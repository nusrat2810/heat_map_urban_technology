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</p:sldMasterIdLst>
  <p:notesMasterIdLst>
    <p:notesMasterId r:id="rId20"/>
  </p:notesMasterIdLst>
  <p:sldIdLst>
    <p:sldId id="256" r:id="rId2"/>
    <p:sldId id="264" r:id="rId3"/>
    <p:sldId id="263" r:id="rId4"/>
    <p:sldId id="258" r:id="rId5"/>
    <p:sldId id="265" r:id="rId6"/>
    <p:sldId id="259" r:id="rId7"/>
    <p:sldId id="260" r:id="rId8"/>
    <p:sldId id="270" r:id="rId9"/>
    <p:sldId id="271" r:id="rId10"/>
    <p:sldId id="272" r:id="rId11"/>
    <p:sldId id="273" r:id="rId12"/>
    <p:sldId id="274" r:id="rId13"/>
    <p:sldId id="261" r:id="rId14"/>
    <p:sldId id="267" r:id="rId15"/>
    <p:sldId id="268" r:id="rId16"/>
    <p:sldId id="269" r:id="rId17"/>
    <p:sldId id="266" r:id="rId18"/>
    <p:sldId id="262" r:id="rId19"/>
  </p:sldIdLst>
  <p:sldSz cx="9144000" cy="6858000" type="screen4x3"/>
  <p:notesSz cx="6858000" cy="9144000"/>
  <p:embeddedFontLst>
    <p:embeddedFont>
      <p:font typeface="Helvetica Neue Light" charset="0"/>
      <p:regular r:id="rId21"/>
      <p:bold r:id="rId22"/>
      <p:italic r:id="rId23"/>
      <p:boldItalic r:id="rId24"/>
    </p:embeddedFont>
    <p:embeddedFont>
      <p:font typeface="Helvetica Neue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61372" autoAdjust="0"/>
  </p:normalViewPr>
  <p:slideViewPr>
    <p:cSldViewPr>
      <p:cViewPr>
        <p:scale>
          <a:sx n="66" d="100"/>
          <a:sy n="66" d="100"/>
        </p:scale>
        <p:origin x="-1506" y="-24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7098703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0" name="Google Shape;1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0" name="Google Shape;18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chemeClr val="accen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4487256">
            <a:off x="525189" y="1438443"/>
            <a:ext cx="4997580" cy="4308310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10800"/>
                </a:moveTo>
                <a:lnTo>
                  <a:pt x="5412" y="0"/>
                </a:lnTo>
                <a:lnTo>
                  <a:pt x="16188" y="0"/>
                </a:lnTo>
                <a:lnTo>
                  <a:pt x="21600" y="10800"/>
                </a:lnTo>
                <a:lnTo>
                  <a:pt x="16188" y="21600"/>
                </a:lnTo>
                <a:lnTo>
                  <a:pt x="5412" y="2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Helvetica Neue"/>
              <a:buNone/>
            </a:pPr>
            <a:endParaRPr sz="13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1216056" y="2417790"/>
            <a:ext cx="5776277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1216056" y="3867346"/>
            <a:ext cx="5776277" cy="15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 rot="2676888">
            <a:off x="3361090" y="3840700"/>
            <a:ext cx="27002" cy="35399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14" name="Google Shape;14;p2" descr="Google Shape;14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25762" y="433485"/>
            <a:ext cx="1734925" cy="309990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6426199" y="6292850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3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8" name="Google Shape;18;p3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9" name="Google Shape;19;p3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284836" y="615312"/>
            <a:ext cx="8574326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284836" y="1855366"/>
            <a:ext cx="8574326" cy="3877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 02">
  <p:cSld name="Titelfolie 0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>
            <a:spLocks noGrp="1"/>
          </p:cNvSpPr>
          <p:nvPr>
            <p:ph type="pic" idx="2"/>
          </p:nvPr>
        </p:nvSpPr>
        <p:spPr>
          <a:xfrm>
            <a:off x="1157671" y="1050201"/>
            <a:ext cx="4757598" cy="4757598"/>
          </a:xfrm>
          <a:prstGeom prst="rect">
            <a:avLst/>
          </a:prstGeom>
          <a:noFill/>
          <a:ln>
            <a:noFill/>
          </a:ln>
        </p:spPr>
      </p: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251521" y="2287065"/>
            <a:ext cx="5776275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251521" y="3840245"/>
            <a:ext cx="5776275" cy="15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27" name="Google Shape;27;p4" descr="Google Shape;31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25620" y="433485"/>
            <a:ext cx="1735069" cy="30999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/>
        </p:nvSpPr>
        <p:spPr>
          <a:xfrm rot="5400000">
            <a:off x="7822719" y="4859920"/>
            <a:ext cx="1223418" cy="186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Studiere Zukunft</a:t>
            </a:r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3"/>
          </p:nvPr>
        </p:nvSpPr>
        <p:spPr>
          <a:xfrm rot="2676888">
            <a:off x="1535258" y="3841343"/>
            <a:ext cx="27002" cy="35355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26199" y="6292850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 03">
  <p:cSld name="Titelfolie 03">
    <p:bg>
      <p:bgPr>
        <a:solidFill>
          <a:schemeClr val="accent4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>
            <a:spLocks noGrp="1"/>
          </p:cNvSpPr>
          <p:nvPr>
            <p:ph type="pic" idx="2"/>
          </p:nvPr>
        </p:nvSpPr>
        <p:spPr>
          <a:xfrm>
            <a:off x="2159250" y="1019732"/>
            <a:ext cx="4825500" cy="4818539"/>
          </a:xfrm>
          <a:prstGeom prst="rect">
            <a:avLst/>
          </a:prstGeom>
          <a:noFill/>
          <a:ln>
            <a:noFill/>
          </a:ln>
        </p:spPr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1216056" y="2417790"/>
            <a:ext cx="5776277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1"/>
          </p:nvPr>
        </p:nvSpPr>
        <p:spPr>
          <a:xfrm>
            <a:off x="1216056" y="3867346"/>
            <a:ext cx="5776277" cy="15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3"/>
          </p:nvPr>
        </p:nvSpPr>
        <p:spPr>
          <a:xfrm rot="2676888">
            <a:off x="3361090" y="3840700"/>
            <a:ext cx="27002" cy="353998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/>
          <p:nvPr/>
        </p:nvSpPr>
        <p:spPr>
          <a:xfrm rot="5400000">
            <a:off x="7822719" y="4859920"/>
            <a:ext cx="1223418" cy="186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Studiere Zukunft</a:t>
            </a:r>
            <a:endParaRPr/>
          </a:p>
        </p:txBody>
      </p:sp>
      <p:pic>
        <p:nvPicPr>
          <p:cNvPr id="37" name="Google Shape;37;p5" descr="Google Shape;41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25762" y="433485"/>
            <a:ext cx="1734925" cy="309990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6426199" y="6292850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 04">
  <p:cSld name="Titelfolie 04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>
            <a:spLocks noGrp="1"/>
          </p:cNvSpPr>
          <p:nvPr>
            <p:ph type="pic" idx="2"/>
          </p:nvPr>
        </p:nvSpPr>
        <p:spPr>
          <a:xfrm>
            <a:off x="2501999" y="1358999"/>
            <a:ext cx="4140002" cy="4140002"/>
          </a:xfrm>
          <a:prstGeom prst="rect">
            <a:avLst/>
          </a:prstGeom>
          <a:noFill/>
          <a:ln>
            <a:noFill/>
          </a:ln>
        </p:spPr>
      </p:sp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1216056" y="2417790"/>
            <a:ext cx="5776277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1216056" y="3867346"/>
            <a:ext cx="5776277" cy="15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Helvetica Neue"/>
              <a:buNone/>
              <a:defRPr sz="10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3"/>
          </p:nvPr>
        </p:nvSpPr>
        <p:spPr>
          <a:xfrm rot="2676888">
            <a:off x="3361090" y="3840700"/>
            <a:ext cx="27002" cy="35399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/>
          <p:nvPr/>
        </p:nvSpPr>
        <p:spPr>
          <a:xfrm rot="5400000">
            <a:off x="7822719" y="4859920"/>
            <a:ext cx="1223418" cy="186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Helvetica Neue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Studiere Zukunft</a:t>
            </a:r>
            <a:endParaRPr/>
          </a:p>
        </p:txBody>
      </p:sp>
      <p:pic>
        <p:nvPicPr>
          <p:cNvPr id="45" name="Google Shape;45;p6" descr="Google Shape;4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225762" y="433485"/>
            <a:ext cx="1734925" cy="3099905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6426199" y="6292850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trenner 01">
  <p:cSld name="Kapiteltrenner 01">
    <p:bg>
      <p:bgPr>
        <a:solidFill>
          <a:schemeClr val="accent1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 descr="Google Shape;5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" name="Google Shape;49;p7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50" name="Google Shape;50;p7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51" name="Google Shape;51;p7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52" name="Google Shape;52;p7"/>
          <p:cNvSpPr/>
          <p:nvPr/>
        </p:nvSpPr>
        <p:spPr>
          <a:xfrm>
            <a:off x="0" y="5821383"/>
            <a:ext cx="9144000" cy="10366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3" name="Google Shape;53;p7"/>
          <p:cNvSpPr/>
          <p:nvPr/>
        </p:nvSpPr>
        <p:spPr>
          <a:xfrm rot="5400000">
            <a:off x="3976750" y="1487747"/>
            <a:ext cx="4816802" cy="3592803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4" name="Google Shape;54;p7"/>
          <p:cNvSpPr txBox="1">
            <a:spLocks noGrp="1"/>
          </p:cNvSpPr>
          <p:nvPr>
            <p:ph type="body" idx="1"/>
          </p:nvPr>
        </p:nvSpPr>
        <p:spPr>
          <a:xfrm>
            <a:off x="536974" y="3111024"/>
            <a:ext cx="8070058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1"/>
            </a:lvl1pPr>
            <a:lvl2pPr marL="914400" lvl="1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2pPr>
            <a:lvl3pPr marL="1371600" lvl="2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3pPr>
            <a:lvl4pPr marL="1828800" lvl="3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4pPr>
            <a:lvl5pPr marL="2286000" lvl="4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body" idx="2"/>
          </p:nvPr>
        </p:nvSpPr>
        <p:spPr>
          <a:xfrm rot="-8123111">
            <a:off x="6282751" y="-576927"/>
            <a:ext cx="27002" cy="38880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56" name="Google Shape;56;p7" descr="Google Shape;61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7"/>
          <p:cNvSpPr/>
          <p:nvPr/>
        </p:nvSpPr>
        <p:spPr>
          <a:xfrm>
            <a:off x="7952081" y="6169119"/>
            <a:ext cx="674346" cy="688889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21600"/>
                </a:moveTo>
                <a:lnTo>
                  <a:pt x="21169" y="0"/>
                </a:lnTo>
                <a:lnTo>
                  <a:pt x="21600" y="0"/>
                </a:lnTo>
                <a:lnTo>
                  <a:pt x="431" y="2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None/>
            </a:pPr>
            <a:endParaRPr sz="100" b="0" i="0" u="none" strike="noStrike" cap="none">
              <a:solidFill>
                <a:schemeClr val="accent4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trenner 02">
  <p:cSld name="Kapiteltrenner 02">
    <p:bg>
      <p:bgPr>
        <a:solidFill>
          <a:schemeClr val="accent3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8" descr="Google Shape;6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" name="Google Shape;61;p8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62" name="Google Shape;62;p8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63" name="Google Shape;63;p8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64" name="Google Shape;64;p8"/>
          <p:cNvSpPr/>
          <p:nvPr/>
        </p:nvSpPr>
        <p:spPr>
          <a:xfrm>
            <a:off x="0" y="5821383"/>
            <a:ext cx="9144000" cy="103662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5" name="Google Shape;65;p8"/>
          <p:cNvSpPr/>
          <p:nvPr/>
        </p:nvSpPr>
        <p:spPr>
          <a:xfrm rot="4487256">
            <a:off x="2073210" y="1274845"/>
            <a:ext cx="4997580" cy="4308311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10800"/>
                </a:moveTo>
                <a:lnTo>
                  <a:pt x="5412" y="0"/>
                </a:lnTo>
                <a:lnTo>
                  <a:pt x="16188" y="0"/>
                </a:lnTo>
                <a:lnTo>
                  <a:pt x="21600" y="10800"/>
                </a:lnTo>
                <a:lnTo>
                  <a:pt x="16188" y="21600"/>
                </a:lnTo>
                <a:lnTo>
                  <a:pt x="5412" y="2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Helvetica Neue"/>
              <a:buNone/>
            </a:pPr>
            <a:endParaRPr sz="13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1"/>
          </p:nvPr>
        </p:nvSpPr>
        <p:spPr>
          <a:xfrm>
            <a:off x="536974" y="3091757"/>
            <a:ext cx="8070058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None/>
              <a:defRPr sz="2200" b="1"/>
            </a:lvl1pPr>
            <a:lvl2pPr marL="914400" lvl="1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2pPr>
            <a:lvl3pPr marL="1371600" lvl="2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3pPr>
            <a:lvl4pPr marL="1828800" lvl="3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4pPr>
            <a:lvl5pPr marL="2286000" lvl="4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Helvetica Neue"/>
              <a:buChar char="•"/>
              <a:defRPr sz="2200" b="1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8"/>
          <p:cNvSpPr txBox="1">
            <a:spLocks noGrp="1"/>
          </p:cNvSpPr>
          <p:nvPr>
            <p:ph type="body" idx="2"/>
          </p:nvPr>
        </p:nvSpPr>
        <p:spPr>
          <a:xfrm rot="-8123111">
            <a:off x="4481109" y="-576927"/>
            <a:ext cx="27002" cy="388800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8" descr="Google Shape;7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8"/>
          <p:cNvSpPr/>
          <p:nvPr/>
        </p:nvSpPr>
        <p:spPr>
          <a:xfrm>
            <a:off x="7952081" y="6169119"/>
            <a:ext cx="674346" cy="688889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21600"/>
                </a:moveTo>
                <a:lnTo>
                  <a:pt x="21169" y="0"/>
                </a:lnTo>
                <a:lnTo>
                  <a:pt x="21600" y="0"/>
                </a:lnTo>
                <a:lnTo>
                  <a:pt x="431" y="2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None/>
            </a:pPr>
            <a:endParaRPr sz="100" b="0" i="0" u="none" strike="noStrike" cap="none">
              <a:solidFill>
                <a:schemeClr val="accent4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" name="Google Shape;70;p8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trenner 03">
  <p:cSld name="Kapiteltrenner 03">
    <p:bg>
      <p:bgPr>
        <a:solidFill>
          <a:schemeClr val="accent4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9" descr="Google Shape;76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3" name="Google Shape;73;p9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74" name="Google Shape;74;p9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75" name="Google Shape;75;p9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76" name="Google Shape;76;p9"/>
          <p:cNvSpPr/>
          <p:nvPr/>
        </p:nvSpPr>
        <p:spPr>
          <a:xfrm>
            <a:off x="547650" y="1031709"/>
            <a:ext cx="4791604" cy="47896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"/>
          </p:nvPr>
        </p:nvSpPr>
        <p:spPr>
          <a:xfrm rot="-8123112">
            <a:off x="2140107" y="-507500"/>
            <a:ext cx="27002" cy="343466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None/>
              <a:defRPr sz="100">
                <a:solidFill>
                  <a:schemeClr val="accent4"/>
                </a:solidFill>
              </a:defRPr>
            </a:lvl1pPr>
            <a:lvl2pPr marL="914400" lvl="1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2pPr>
            <a:lvl3pPr marL="1371600" lvl="2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3pPr>
            <a:lvl4pPr marL="1828800" lvl="3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4pPr>
            <a:lvl5pPr marL="2286000" lvl="4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body" idx="2"/>
          </p:nvPr>
        </p:nvSpPr>
        <p:spPr>
          <a:xfrm>
            <a:off x="1239391" y="3253423"/>
            <a:ext cx="6665222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trenner 04">
  <p:cSld name="Kapiteltrenner 04">
    <p:bg>
      <p:bgPr>
        <a:solidFill>
          <a:schemeClr val="accent5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0" descr="Google Shape;85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" name="Google Shape;82;p10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83" name="Google Shape;83;p10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84" name="Google Shape;84;p10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85" name="Google Shape;85;p10"/>
          <p:cNvSpPr/>
          <p:nvPr/>
        </p:nvSpPr>
        <p:spPr>
          <a:xfrm>
            <a:off x="0" y="5821383"/>
            <a:ext cx="9144000" cy="1036623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6" name="Google Shape;86;p10"/>
          <p:cNvSpPr/>
          <p:nvPr/>
        </p:nvSpPr>
        <p:spPr>
          <a:xfrm>
            <a:off x="3786339" y="1031709"/>
            <a:ext cx="4791603" cy="478967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7" name="Google Shape;87;p10"/>
          <p:cNvSpPr txBox="1">
            <a:spLocks noGrp="1"/>
          </p:cNvSpPr>
          <p:nvPr>
            <p:ph type="body" idx="1"/>
          </p:nvPr>
        </p:nvSpPr>
        <p:spPr>
          <a:xfrm>
            <a:off x="1239391" y="3253423"/>
            <a:ext cx="6665222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  <a:defRPr sz="2200" b="1">
                <a:solidFill>
                  <a:srgbClr val="FFFFFF"/>
                </a:solidFill>
              </a:defRPr>
            </a:lvl1pPr>
            <a:lvl2pPr marL="914400" lvl="1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Char char="•"/>
              <a:defRPr sz="2200" b="1">
                <a:solidFill>
                  <a:srgbClr val="FFFFFF"/>
                </a:solidFill>
              </a:defRPr>
            </a:lvl2pPr>
            <a:lvl3pPr marL="1371600" lvl="2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Char char="•"/>
              <a:defRPr sz="2200" b="1">
                <a:solidFill>
                  <a:srgbClr val="FFFFFF"/>
                </a:solidFill>
              </a:defRPr>
            </a:lvl3pPr>
            <a:lvl4pPr marL="1828800" lvl="3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Char char="•"/>
              <a:defRPr sz="2200" b="1">
                <a:solidFill>
                  <a:srgbClr val="FFFFFF"/>
                </a:solidFill>
              </a:defRPr>
            </a:lvl4pPr>
            <a:lvl5pPr marL="2286000" lvl="4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Char char="•"/>
              <a:defRPr sz="2200" b="1">
                <a:solidFill>
                  <a:srgbClr val="FFFFFF"/>
                </a:solidFill>
              </a:defRPr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0"/>
          <p:cNvSpPr txBox="1">
            <a:spLocks noGrp="1"/>
          </p:cNvSpPr>
          <p:nvPr>
            <p:ph type="body" idx="2"/>
          </p:nvPr>
        </p:nvSpPr>
        <p:spPr>
          <a:xfrm rot="2676888">
            <a:off x="5361835" y="3392894"/>
            <a:ext cx="27002" cy="40631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pic>
        <p:nvPicPr>
          <p:cNvPr id="89" name="Google Shape;89;p10" descr="Google Shape;9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0"/>
          <p:cNvSpPr/>
          <p:nvPr/>
        </p:nvSpPr>
        <p:spPr>
          <a:xfrm>
            <a:off x="7952081" y="6169119"/>
            <a:ext cx="674346" cy="688889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21600"/>
                </a:moveTo>
                <a:lnTo>
                  <a:pt x="21169" y="0"/>
                </a:lnTo>
                <a:lnTo>
                  <a:pt x="21600" y="0"/>
                </a:lnTo>
                <a:lnTo>
                  <a:pt x="431" y="2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None/>
            </a:pPr>
            <a:endParaRPr sz="100" b="0" i="0" u="none" strike="noStrike" cap="none">
              <a:solidFill>
                <a:schemeClr val="accent4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p10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piteltrenner 05">
  <p:cSld name="Kapiteltrenner 05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1" descr="Google Shape;97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4" name="Google Shape;94;p11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95" name="Google Shape;95;p11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96" name="Google Shape;96;p11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97" name="Google Shape;97;p11"/>
          <p:cNvSpPr/>
          <p:nvPr/>
        </p:nvSpPr>
        <p:spPr>
          <a:xfrm>
            <a:off x="0" y="5839492"/>
            <a:ext cx="9144000" cy="10185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8" name="Google Shape;98;p11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11"/>
          <p:cNvSpPr txBox="1">
            <a:spLocks noGrp="1"/>
          </p:cNvSpPr>
          <p:nvPr>
            <p:ph type="body" idx="1"/>
          </p:nvPr>
        </p:nvSpPr>
        <p:spPr>
          <a:xfrm rot="5400000">
            <a:off x="4072542" y="1404086"/>
            <a:ext cx="4815753" cy="35922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None/>
              <a:defRPr sz="100">
                <a:solidFill>
                  <a:schemeClr val="accent4"/>
                </a:solidFill>
              </a:defRPr>
            </a:lvl1pPr>
            <a:lvl2pPr marL="914400" lvl="1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2pPr>
            <a:lvl3pPr marL="1371600" lvl="2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3pPr>
            <a:lvl4pPr marL="1828800" lvl="3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4pPr>
            <a:lvl5pPr marL="2286000" lvl="4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Char char="•"/>
              <a:defRPr sz="100">
                <a:solidFill>
                  <a:schemeClr val="accent4"/>
                </a:solidFill>
              </a:defRPr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1"/>
          <p:cNvSpPr txBox="1">
            <a:spLocks noGrp="1"/>
          </p:cNvSpPr>
          <p:nvPr>
            <p:ph type="body" idx="3"/>
          </p:nvPr>
        </p:nvSpPr>
        <p:spPr>
          <a:xfrm>
            <a:off x="1239391" y="3027090"/>
            <a:ext cx="6665222" cy="346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11"/>
          <p:cNvSpPr txBox="1">
            <a:spLocks noGrp="1"/>
          </p:cNvSpPr>
          <p:nvPr>
            <p:ph type="body" idx="4"/>
          </p:nvPr>
        </p:nvSpPr>
        <p:spPr>
          <a:xfrm>
            <a:off x="8283647" y="6507836"/>
            <a:ext cx="11213" cy="114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body" idx="5"/>
          </p:nvPr>
        </p:nvSpPr>
        <p:spPr>
          <a:xfrm rot="2676888">
            <a:off x="2684515" y="3392894"/>
            <a:ext cx="27002" cy="406316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3" name="Google Shape;103;p11"/>
          <p:cNvSpPr txBox="1">
            <a:spLocks noGrp="1"/>
          </p:cNvSpPr>
          <p:nvPr>
            <p:ph type="body" idx="6"/>
          </p:nvPr>
        </p:nvSpPr>
        <p:spPr>
          <a:xfrm>
            <a:off x="223600" y="6111090"/>
            <a:ext cx="1991481" cy="31554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r Titel">
  <p:cSld name="Nur Titel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2" descr="Google Shape;110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7" name="Google Shape;107;p12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08" name="Google Shape;108;p12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09" name="Google Shape;109;p12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110" name="Google Shape;110;p12"/>
          <p:cNvSpPr txBox="1">
            <a:spLocks noGrp="1"/>
          </p:cNvSpPr>
          <p:nvPr>
            <p:ph type="title"/>
          </p:nvPr>
        </p:nvSpPr>
        <p:spPr>
          <a:xfrm>
            <a:off x="284836" y="615312"/>
            <a:ext cx="8574326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2"/>
          <p:cNvSpPr txBox="1">
            <a:spLocks noGrp="1"/>
          </p:cNvSpPr>
          <p:nvPr>
            <p:ph type="body" idx="1"/>
          </p:nvPr>
        </p:nvSpPr>
        <p:spPr>
          <a:xfrm>
            <a:off x="284840" y="5841036"/>
            <a:ext cx="509757" cy="76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None/>
              <a:defRPr sz="500"/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12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">
  <p:cSld name="Zwei Inhalte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3" descr="Google Shape;118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5" name="Google Shape;115;p13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16" name="Google Shape;116;p13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17" name="Google Shape;117;p13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118" name="Google Shape;118;p13"/>
          <p:cNvSpPr txBox="1">
            <a:spLocks noGrp="1"/>
          </p:cNvSpPr>
          <p:nvPr>
            <p:ph type="title"/>
          </p:nvPr>
        </p:nvSpPr>
        <p:spPr>
          <a:xfrm>
            <a:off x="284836" y="615312"/>
            <a:ext cx="8574326" cy="34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body" idx="1"/>
          </p:nvPr>
        </p:nvSpPr>
        <p:spPr>
          <a:xfrm>
            <a:off x="284840" y="1855366"/>
            <a:ext cx="4147967" cy="3877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body" idx="2"/>
          </p:nvPr>
        </p:nvSpPr>
        <p:spPr>
          <a:xfrm>
            <a:off x="284840" y="5841036"/>
            <a:ext cx="509756" cy="76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13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, Text und Bild 01">
  <p:cSld name="Titel, Text und Bild 0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4" descr="Google Shape;127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4" name="Google Shape;124;p14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25" name="Google Shape;125;p14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26" name="Google Shape;126;p14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127" name="Google Shape;127;p14"/>
          <p:cNvSpPr txBox="1">
            <a:spLocks noGrp="1"/>
          </p:cNvSpPr>
          <p:nvPr>
            <p:ph type="title"/>
          </p:nvPr>
        </p:nvSpPr>
        <p:spPr>
          <a:xfrm>
            <a:off x="284836" y="615312"/>
            <a:ext cx="8574326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4"/>
          <p:cNvSpPr txBox="1">
            <a:spLocks noGrp="1"/>
          </p:cNvSpPr>
          <p:nvPr>
            <p:ph type="body" idx="1"/>
          </p:nvPr>
        </p:nvSpPr>
        <p:spPr>
          <a:xfrm>
            <a:off x="284840" y="1855366"/>
            <a:ext cx="5317268" cy="3877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14"/>
          <p:cNvSpPr>
            <a:spLocks noGrp="1"/>
          </p:cNvSpPr>
          <p:nvPr>
            <p:ph type="pic" idx="2"/>
          </p:nvPr>
        </p:nvSpPr>
        <p:spPr>
          <a:xfrm>
            <a:off x="5880501" y="1855366"/>
            <a:ext cx="3263505" cy="3877891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14"/>
          <p:cNvSpPr txBox="1">
            <a:spLocks noGrp="1"/>
          </p:cNvSpPr>
          <p:nvPr>
            <p:ph type="body" idx="3"/>
          </p:nvPr>
        </p:nvSpPr>
        <p:spPr>
          <a:xfrm>
            <a:off x="284840" y="5841036"/>
            <a:ext cx="509756" cy="76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, Text und Bild 02">
  <p:cSld name="Titel, Text und Bild 0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5" descr="Google Shape;137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" name="Google Shape;134;p15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35" name="Google Shape;135;p15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36" name="Google Shape;136;p15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137" name="Google Shape;137;p15"/>
          <p:cNvSpPr txBox="1">
            <a:spLocks noGrp="1"/>
          </p:cNvSpPr>
          <p:nvPr>
            <p:ph type="title"/>
          </p:nvPr>
        </p:nvSpPr>
        <p:spPr>
          <a:xfrm>
            <a:off x="284836" y="615312"/>
            <a:ext cx="8574326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400" b="1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body" idx="1"/>
          </p:nvPr>
        </p:nvSpPr>
        <p:spPr>
          <a:xfrm>
            <a:off x="284840" y="1855366"/>
            <a:ext cx="3925029" cy="3877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None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Helvetica Neue"/>
              <a:buChar char="•"/>
              <a:defRPr sz="12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15"/>
          <p:cNvSpPr>
            <a:spLocks noGrp="1"/>
          </p:cNvSpPr>
          <p:nvPr>
            <p:ph type="pic" idx="2"/>
          </p:nvPr>
        </p:nvSpPr>
        <p:spPr>
          <a:xfrm>
            <a:off x="4488260" y="1855366"/>
            <a:ext cx="4655745" cy="3877891"/>
          </a:xfrm>
          <a:prstGeom prst="rect">
            <a:avLst/>
          </a:prstGeom>
          <a:noFill/>
          <a:ln>
            <a:noFill/>
          </a:ln>
        </p:spPr>
      </p:sp>
      <p:sp>
        <p:nvSpPr>
          <p:cNvPr id="140" name="Google Shape;140;p15"/>
          <p:cNvSpPr txBox="1">
            <a:spLocks noGrp="1"/>
          </p:cNvSpPr>
          <p:nvPr>
            <p:ph type="body" idx="3"/>
          </p:nvPr>
        </p:nvSpPr>
        <p:spPr>
          <a:xfrm>
            <a:off x="284840" y="5841036"/>
            <a:ext cx="509756" cy="76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intergrundbild mit Text">
  <p:cSld name="Hintergrundbild mit 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6" descr="Google Shape;14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4" name="Google Shape;144;p16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45" name="Google Shape;145;p16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46" name="Google Shape;146;p16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147" name="Google Shape;147;p16"/>
          <p:cNvSpPr/>
          <p:nvPr/>
        </p:nvSpPr>
        <p:spPr>
          <a:xfrm>
            <a:off x="0" y="6071487"/>
            <a:ext cx="9144000" cy="78651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Helvetica Neue"/>
              <a:buNone/>
            </a:pPr>
            <a:endParaRPr sz="900" b="0" i="0" u="none" strike="noStrike" cap="non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8" name="Google Shape;148;p16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49" name="Google Shape;149;p16"/>
          <p:cNvSpPr txBox="1">
            <a:spLocks noGrp="1"/>
          </p:cNvSpPr>
          <p:nvPr>
            <p:ph type="body" idx="1"/>
          </p:nvPr>
        </p:nvSpPr>
        <p:spPr>
          <a:xfrm>
            <a:off x="543729" y="1623600"/>
            <a:ext cx="3611815" cy="36108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"/>
              <a:buFont typeface="Helvetica Neue"/>
              <a:buNone/>
              <a:defRPr sz="100">
                <a:solidFill>
                  <a:srgbClr val="FFFFFF"/>
                </a:solidFill>
              </a:defRPr>
            </a:lvl1pPr>
            <a:lvl2pPr marL="914400" lvl="1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"/>
              <a:buFont typeface="Helvetica Neue"/>
              <a:buChar char="•"/>
              <a:defRPr sz="100">
                <a:solidFill>
                  <a:srgbClr val="FFFFFF"/>
                </a:solidFill>
              </a:defRPr>
            </a:lvl2pPr>
            <a:lvl3pPr marL="1371600" lvl="2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"/>
              <a:buFont typeface="Helvetica Neue"/>
              <a:buChar char="•"/>
              <a:defRPr sz="100">
                <a:solidFill>
                  <a:srgbClr val="FFFFFF"/>
                </a:solidFill>
              </a:defRPr>
            </a:lvl3pPr>
            <a:lvl4pPr marL="1828800" lvl="3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"/>
              <a:buFont typeface="Helvetica Neue"/>
              <a:buChar char="•"/>
              <a:defRPr sz="100">
                <a:solidFill>
                  <a:srgbClr val="FFFFFF"/>
                </a:solidFill>
              </a:defRPr>
            </a:lvl4pPr>
            <a:lvl5pPr marL="2286000" lvl="4" indent="-2349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FFFFFF"/>
              </a:buClr>
              <a:buSzPts val="100"/>
              <a:buFont typeface="Helvetica Neue"/>
              <a:buChar char="•"/>
              <a:defRPr sz="100">
                <a:solidFill>
                  <a:srgbClr val="FFFFFF"/>
                </a:solidFill>
              </a:defRPr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50" name="Google Shape;150;p16"/>
          <p:cNvSpPr txBox="1">
            <a:spLocks noGrp="1"/>
          </p:cNvSpPr>
          <p:nvPr>
            <p:ph type="body" idx="3"/>
          </p:nvPr>
        </p:nvSpPr>
        <p:spPr>
          <a:xfrm rot="-8123111">
            <a:off x="3327887" y="-507500"/>
            <a:ext cx="27002" cy="343466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6"/>
          <p:cNvSpPr txBox="1">
            <a:spLocks noGrp="1"/>
          </p:cNvSpPr>
          <p:nvPr>
            <p:ph type="body" idx="4"/>
          </p:nvPr>
        </p:nvSpPr>
        <p:spPr>
          <a:xfrm>
            <a:off x="1239391" y="3082750"/>
            <a:ext cx="2508748" cy="692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/>
          <p:nvPr/>
        </p:nvSpPr>
        <p:spPr>
          <a:xfrm>
            <a:off x="8109759" y="6169119"/>
            <a:ext cx="516667" cy="688889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0" y="21600"/>
                </a:moveTo>
                <a:lnTo>
                  <a:pt x="21169" y="0"/>
                </a:lnTo>
                <a:lnTo>
                  <a:pt x="21600" y="0"/>
                </a:lnTo>
                <a:lnTo>
                  <a:pt x="431" y="2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00"/>
              <a:buFont typeface="Helvetica Neue"/>
              <a:buNone/>
            </a:pPr>
            <a:endParaRPr sz="100" b="0" i="0" u="none" strike="noStrike" cap="none">
              <a:solidFill>
                <a:schemeClr val="accent4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3" name="Google Shape;153;p16"/>
          <p:cNvSpPr txBox="1">
            <a:spLocks noGrp="1"/>
          </p:cNvSpPr>
          <p:nvPr>
            <p:ph type="body" idx="5"/>
          </p:nvPr>
        </p:nvSpPr>
        <p:spPr>
          <a:xfrm>
            <a:off x="8283647" y="6507836"/>
            <a:ext cx="11213" cy="114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16"/>
          <p:cNvSpPr txBox="1">
            <a:spLocks noGrp="1"/>
          </p:cNvSpPr>
          <p:nvPr>
            <p:ph type="body" idx="6"/>
          </p:nvPr>
        </p:nvSpPr>
        <p:spPr>
          <a:xfrm>
            <a:off x="223600" y="6111090"/>
            <a:ext cx="1991481" cy="31554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16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Helvetica Neue"/>
              <a:buNone/>
              <a:defRPr sz="800" b="1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">
  <p:cSld name="Le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7" descr="Google Shape;161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69206" y="6150521"/>
            <a:ext cx="1887841" cy="2307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8" name="Google Shape;158;p17"/>
          <p:cNvGrpSpPr/>
          <p:nvPr/>
        </p:nvGrpSpPr>
        <p:grpSpPr>
          <a:xfrm>
            <a:off x="7952077" y="6167708"/>
            <a:ext cx="674350" cy="690304"/>
            <a:chOff x="-1" y="-1"/>
            <a:chExt cx="674349" cy="690303"/>
          </a:xfrm>
        </p:grpSpPr>
        <p:sp>
          <p:nvSpPr>
            <p:cNvPr id="159" name="Google Shape;159;p17"/>
            <p:cNvSpPr/>
            <p:nvPr/>
          </p:nvSpPr>
          <p:spPr>
            <a:xfrm>
              <a:off x="-1" y="-1"/>
              <a:ext cx="674349" cy="69030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21600"/>
                  </a:moveTo>
                  <a:lnTo>
                    <a:pt x="21248" y="0"/>
                  </a:lnTo>
                  <a:lnTo>
                    <a:pt x="21600" y="0"/>
                  </a:lnTo>
                  <a:lnTo>
                    <a:pt x="352" y="2160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endParaRPr sz="1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160" name="Google Shape;160;p17"/>
            <p:cNvSpPr txBox="1"/>
            <p:nvPr/>
          </p:nvSpPr>
          <p:spPr>
            <a:xfrm>
              <a:off x="296036" y="281649"/>
              <a:ext cx="82276" cy="127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675" tIns="45675" rIns="45675" bIns="45675" anchor="ctr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Helvetica Neue"/>
                <a:buNone/>
              </a:pPr>
              <a:r>
                <a:rPr lang="en-US" sz="100" b="0" i="0" u="none" strike="noStrike" cap="none">
                  <a:solidFill>
                    <a:srgbClr val="0000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.</a:t>
              </a:r>
              <a:endParaRPr/>
            </a:p>
          </p:txBody>
        </p:sp>
      </p:grpSp>
      <p:sp>
        <p:nvSpPr>
          <p:cNvPr id="161" name="Google Shape;161;p17"/>
          <p:cNvSpPr txBox="1">
            <a:spLocks noGrp="1"/>
          </p:cNvSpPr>
          <p:nvPr>
            <p:ph type="body" idx="1"/>
          </p:nvPr>
        </p:nvSpPr>
        <p:spPr>
          <a:xfrm>
            <a:off x="284840" y="5841036"/>
            <a:ext cx="509757" cy="76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None/>
              <a:defRPr sz="500"/>
            </a:lvl1pPr>
            <a:lvl2pPr marL="914400" lvl="1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2pPr>
            <a:lvl3pPr marL="1371600" lvl="2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3pPr>
            <a:lvl4pPr marL="1828800" lvl="3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4pPr>
            <a:lvl5pPr marL="2286000" lvl="4" indent="-2603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Helvetica Neue"/>
              <a:buChar char="•"/>
              <a:defRPr sz="500"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sldNum" idx="12"/>
          </p:nvPr>
        </p:nvSpPr>
        <p:spPr>
          <a:xfrm>
            <a:off x="8719822" y="6301573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  <a:defRPr sz="800" b="1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 b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>
  <p:cSld name="Title &amp; Bullets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669725" y="312538"/>
            <a:ext cx="7804549" cy="1518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1"/>
          </p:nvPr>
        </p:nvSpPr>
        <p:spPr>
          <a:xfrm>
            <a:off x="669725" y="1835050"/>
            <a:ext cx="7804549" cy="4420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sldNum" idx="12"/>
          </p:nvPr>
        </p:nvSpPr>
        <p:spPr>
          <a:xfrm>
            <a:off x="4431093" y="6376935"/>
            <a:ext cx="281814" cy="269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2">
  <p:cSld name="Title &amp; Bullets 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title"/>
          </p:nvPr>
        </p:nvSpPr>
        <p:spPr>
          <a:xfrm>
            <a:off x="669725" y="312538"/>
            <a:ext cx="7804549" cy="1518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1"/>
          </p:nvPr>
        </p:nvSpPr>
        <p:spPr>
          <a:xfrm>
            <a:off x="669725" y="1835050"/>
            <a:ext cx="7804549" cy="4420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ctr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1pPr>
            <a:lvl2pPr marL="914400" lvl="1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lvl="2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3pPr>
            <a:lvl4pPr marL="1828800" lvl="3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4pPr>
            <a:lvl5pPr marL="2286000" lvl="4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5pPr>
            <a:lvl6pPr marL="2743200" lvl="5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6pPr>
            <a:lvl7pPr marL="3200400" lvl="6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7pPr>
            <a:lvl8pPr marL="3657600" lvl="7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8pPr>
            <a:lvl9pPr marL="4114800" lvl="8" indent="-381000" algn="l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SzPts val="24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sldNum" idx="12"/>
          </p:nvPr>
        </p:nvSpPr>
        <p:spPr>
          <a:xfrm>
            <a:off x="4431093" y="6376935"/>
            <a:ext cx="281814" cy="269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69725" y="312538"/>
            <a:ext cx="7804549" cy="1518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Helvetica Neue Light"/>
              <a:buNone/>
              <a:defRPr sz="56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69725" y="1835050"/>
            <a:ext cx="7804549" cy="4420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ctr" anchorCtr="0">
            <a:norm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381000" algn="l" rtl="0">
              <a:lnSpc>
                <a:spcPct val="100000"/>
              </a:lnSpc>
              <a:spcBef>
                <a:spcPts val="2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Char char="•"/>
              <a:defRPr sz="2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4431093" y="6376935"/>
            <a:ext cx="281814" cy="269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700" tIns="35700" rIns="35700" bIns="3570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  <a:defRPr sz="14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0"/>
          <p:cNvSpPr txBox="1">
            <a:spLocks noGrp="1"/>
          </p:cNvSpPr>
          <p:nvPr>
            <p:ph type="ctrTitle" idx="4294967295"/>
          </p:nvPr>
        </p:nvSpPr>
        <p:spPr>
          <a:xfrm>
            <a:off x="1143000" y="2590800"/>
            <a:ext cx="5776278" cy="903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l">
              <a:buSzPts val="1400"/>
            </a:pPr>
            <a:r>
              <a:rPr lang="en-GB" sz="2500" b="1" dirty="0">
                <a:latin typeface="Times New Roman" pitchFamily="18" charset="0"/>
                <a:cs typeface="Times New Roman" pitchFamily="18" charset="0"/>
              </a:rPr>
              <a:t>Urban </a:t>
            </a:r>
            <a:r>
              <a:rPr lang="en-GB" sz="2500" b="1" dirty="0" smtClean="0">
                <a:latin typeface="Times New Roman" pitchFamily="18" charset="0"/>
                <a:cs typeface="Times New Roman" pitchFamily="18" charset="0"/>
              </a:rPr>
              <a:t>Shade:</a:t>
            </a:r>
            <a:br>
              <a:rPr lang="en-GB" sz="2500" b="1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GB" sz="2500" b="1" dirty="0" smtClean="0">
                <a:latin typeface="Times New Roman" pitchFamily="18" charset="0"/>
                <a:cs typeface="Times New Roman" pitchFamily="18" charset="0"/>
              </a:rPr>
              <a:t>Data </a:t>
            </a:r>
            <a:r>
              <a:rPr lang="en-GB" sz="2500" b="1" dirty="0">
                <a:latin typeface="Times New Roman" pitchFamily="18" charset="0"/>
                <a:cs typeface="Times New Roman" pitchFamily="18" charset="0"/>
              </a:rPr>
              <a:t>Driven Tree Plantation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4294967295"/>
          </p:nvPr>
        </p:nvSpPr>
        <p:spPr>
          <a:xfrm>
            <a:off x="1216055" y="3812414"/>
            <a:ext cx="5776278" cy="903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Helvetica Neue"/>
              <a:buNone/>
            </a:pPr>
            <a:r>
              <a:rPr lang="en-US" sz="2000" b="0" i="0" u="none" strike="noStrike" cap="none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Helvetica Neue"/>
              </a:rPr>
              <a:t>Nusrat</a:t>
            </a:r>
            <a:r>
              <a:rPr lang="en-US" sz="2000" b="0" i="0" u="none" strike="noStrike" cap="none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US" sz="2000" b="0" i="0" u="none" strike="noStrike" cap="none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Helvetica Neue"/>
              </a:rPr>
              <a:t>Farzana</a:t>
            </a:r>
            <a:endParaRPr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7" name="Google Shape;177;p20"/>
          <p:cNvSpPr txBox="1">
            <a:spLocks noGrp="1"/>
          </p:cNvSpPr>
          <p:nvPr>
            <p:ph type="body" idx="2"/>
          </p:nvPr>
        </p:nvSpPr>
        <p:spPr>
          <a:xfrm rot="2676888">
            <a:off x="3361090" y="3840700"/>
            <a:ext cx="27002" cy="35399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endParaRPr sz="2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2</a:t>
            </a:fld>
            <a:endParaRPr/>
          </a:p>
        </p:txBody>
      </p:sp>
      <p:sp>
        <p:nvSpPr>
          <p:cNvPr id="184" name="Google Shape;184;p21"/>
          <p:cNvSpPr txBox="1"/>
          <p:nvPr/>
        </p:nvSpPr>
        <p:spPr>
          <a:xfrm>
            <a:off x="272138" y="428171"/>
            <a:ext cx="8643262" cy="61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itchFamily="34" charset="0"/>
              <a:buChar char="•"/>
            </a:pPr>
            <a:r>
              <a:rPr lang="en-US" sz="2000" b="1" i="0" u="none" strike="noStrike" cap="none" dirty="0" smtClean="0">
                <a:solidFill>
                  <a:srgbClr val="000000"/>
                </a:solidFill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Problem:</a:t>
            </a:r>
            <a:endParaRPr lang="en-US" sz="2000" b="1" dirty="0"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  <a:p>
            <a:pPr lvl="2">
              <a:buSzPts val="2000"/>
            </a:pPr>
            <a:r>
              <a:rPr lang="en-US" sz="2000" dirty="0">
                <a:latin typeface="Times New Roman" pitchFamily="18" charset="0"/>
                <a:cs typeface="Times New Roman" pitchFamily="18" charset="0"/>
                <a:sym typeface="Helvetica Neue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Urban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areas like Berlin are experiencing rising summer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temperature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due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to climate change and urbanization (concrete surfaces, limited greenery), 	causing discomfort, health risks, and reduced quality of life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pPr marL="204534" marR="0" lvl="0" indent="-20453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Char char="•"/>
            </a:pPr>
            <a:endParaRPr lang="en-US" sz="1000" b="0" i="0" u="none" strike="noStrike" cap="none" dirty="0" smtClean="0">
              <a:solidFill>
                <a:srgbClr val="000000"/>
              </a:solidFill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  <a:p>
            <a:pPr marL="342900" marR="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 pitchFamily="34" charset="0"/>
              <a:buChar char="•"/>
            </a:pPr>
            <a:r>
              <a:rPr lang="en-US" sz="2000" b="1" dirty="0"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W</a:t>
            </a:r>
            <a:r>
              <a:rPr lang="en-US" sz="2000" b="1" i="0" u="none" strike="noStrike" cap="none" dirty="0" smtClean="0">
                <a:solidFill>
                  <a:srgbClr val="000000"/>
                </a:solidFill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hy 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this is </a:t>
            </a:r>
            <a:r>
              <a:rPr lang="en-US" sz="2000" b="1" i="0" u="none" strike="noStrike" cap="none" dirty="0" smtClean="0">
                <a:solidFill>
                  <a:srgbClr val="000000"/>
                </a:solidFill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important?</a:t>
            </a:r>
            <a:endParaRPr lang="en-US" sz="2000" b="1" i="0" u="none" strike="noStrike" cap="none" dirty="0" smtClean="0">
              <a:solidFill>
                <a:srgbClr val="000000"/>
              </a:solidFill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  <a:p>
            <a:pPr lvl="6">
              <a:buSzPts val="2000"/>
            </a:pP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Climate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adaptation: Cities need strategies to reduce heat exposure in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vulnerable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areas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Urban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planning: Helps policymakers prioritize tree planting efforts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efficiently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rather than distributing resources uniformly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GB" sz="1000" dirty="0">
              <a:latin typeface="Times New Roman" pitchFamily="18" charset="0"/>
              <a:cs typeface="Times New Roman" pitchFamily="18" charset="0"/>
            </a:endParaRPr>
          </a:p>
          <a:p>
            <a:pPr marL="342900" lvl="5" indent="-342900">
              <a:buSzPts val="2000"/>
              <a:buFont typeface="Arial" pitchFamily="34" charset="0"/>
              <a:buChar char="•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State of art approaches:</a:t>
            </a:r>
            <a:endParaRPr lang="en-GB" sz="2000" b="1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Remote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sensing / satellite imagery: Some projects use satellite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temperature data to detect urban heat islands.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City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GIS data: Mapping parks, forests, and urban green areas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to 	estimate cooling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effects.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Machine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learning / statistical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modelling: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Predicting areas prone to heat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stress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using temperature, land use, and population data.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Urban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tree inventory: Some cities maintain databases of planted trees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and green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areas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1776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3</a:t>
            </a:fld>
            <a:endParaRPr/>
          </a:p>
        </p:txBody>
      </p:sp>
      <p:sp>
        <p:nvSpPr>
          <p:cNvPr id="184" name="Google Shape;184;p21"/>
          <p:cNvSpPr txBox="1"/>
          <p:nvPr/>
        </p:nvSpPr>
        <p:spPr>
          <a:xfrm>
            <a:off x="232229" y="533400"/>
            <a:ext cx="8719462" cy="5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Gaps</a:t>
            </a: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Many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current studies provide city-wide averages, not fine-grained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neighbourhood-level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analysis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Automated, data-driven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recommendations for tree plantation are limited.</a:t>
            </a:r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  <a:p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My</a:t>
            </a: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 project: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Combines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multi-year temperature data, green coverage from OSM, and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interactive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mapping.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Generates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 tree priority score per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neighbourhood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to highlight where tree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plantation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is most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needed.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pPr marL="204534" lvl="5" indent="-204534">
              <a:buSzPts val="2000"/>
              <a:buFont typeface="Helvetica Neue"/>
              <a:buChar char="•"/>
            </a:pPr>
            <a:endParaRPr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9496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4</a:t>
            </a:fld>
            <a:endParaRPr/>
          </a:p>
        </p:txBody>
      </p:sp>
      <p:sp>
        <p:nvSpPr>
          <p:cNvPr id="191" name="Google Shape;191;p22"/>
          <p:cNvSpPr txBox="1"/>
          <p:nvPr/>
        </p:nvSpPr>
        <p:spPr>
          <a:xfrm>
            <a:off x="152399" y="457200"/>
            <a:ext cx="8716287" cy="62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Data Set :</a:t>
            </a:r>
          </a:p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Temperature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data: Extracted from Google Earth Engine (GEE) using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the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MODIS Land Surface Temperature dataset, </a:t>
            </a:r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covering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Berlin for June–August, last 5 years (2020–2024).</a:t>
            </a:r>
          </a:p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Urban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area boundaries: Used </a:t>
            </a:r>
            <a:r>
              <a:rPr lang="en-GB" sz="2000" dirty="0" err="1">
                <a:latin typeface="Times New Roman" pitchFamily="18" charset="0"/>
                <a:cs typeface="Times New Roman" pitchFamily="18" charset="0"/>
              </a:rPr>
              <a:t>OpenStreetMap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 (OSM) data via </a:t>
            </a:r>
            <a:r>
              <a:rPr lang="en-GB" sz="2000" dirty="0" err="1">
                <a:latin typeface="Times New Roman" pitchFamily="18" charset="0"/>
                <a:cs typeface="Times New Roman" pitchFamily="18" charset="0"/>
              </a:rPr>
              <a:t>OSMnx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which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provides polygons for </a:t>
            </a:r>
            <a:r>
              <a:rPr lang="en-GB" sz="2000" dirty="0" err="1">
                <a:latin typeface="Times New Roman" pitchFamily="18" charset="0"/>
                <a:cs typeface="Times New Roman" pitchFamily="18" charset="0"/>
              </a:rPr>
              <a:t>neighborhoods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/areas in Berlin.</a:t>
            </a:r>
          </a:p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Green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coverage: Extracted from OSM by filtering polygons tagged as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parks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, forests, gardens, and other green areas.</a:t>
            </a:r>
          </a:p>
          <a:p>
            <a:pPr marL="204534" marR="0" lvl="0" indent="-20453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Char char="•"/>
            </a:pPr>
            <a:endParaRPr lang="en-US" sz="1000" i="0" u="none" strike="noStrike" cap="none" dirty="0" smtClean="0">
              <a:solidFill>
                <a:srgbClr val="000000"/>
              </a:solidFill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  <a:p>
            <a:pPr marL="204534" marR="0" lvl="0" indent="-20453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Char char="•"/>
            </a:pPr>
            <a:endParaRPr lang="en-US" sz="1000" i="0" u="none" strike="noStrike" cap="none" dirty="0" smtClean="0">
              <a:solidFill>
                <a:srgbClr val="000000"/>
              </a:solidFill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  <a:p>
            <a:pPr marL="342900" indent="-342900">
              <a:buFont typeface="Arial" pitchFamily="34" charset="0"/>
              <a:buChar char="•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Data Quality :</a:t>
            </a:r>
            <a:endParaRPr lang="en-GB" sz="2000" b="1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Strengths</a:t>
            </a:r>
            <a:r>
              <a:rPr lang="en-GB" sz="2000" b="1" dirty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lvl="1"/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High-resolution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spatial data for Berlin.</a:t>
            </a:r>
          </a:p>
          <a:p>
            <a:pPr lvl="1"/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Multi-year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temperature allows robust averaging.</a:t>
            </a:r>
          </a:p>
          <a:p>
            <a:pPr lvl="1"/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OSM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green areas are up-to-date and detailed in urban environments.</a:t>
            </a: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endParaRPr lang="en-GB" sz="2000" b="1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b="1" dirty="0">
                <a:latin typeface="Times New Roman" pitchFamily="18" charset="0"/>
                <a:cs typeface="Times New Roman" pitchFamily="18" charset="0"/>
              </a:rPr>
              <a:t>	</a:t>
            </a:r>
          </a:p>
          <a:p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2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5</a:t>
            </a:fld>
            <a:endParaRPr/>
          </a:p>
        </p:txBody>
      </p:sp>
      <p:sp>
        <p:nvSpPr>
          <p:cNvPr id="191" name="Google Shape;191;p22"/>
          <p:cNvSpPr txBox="1"/>
          <p:nvPr/>
        </p:nvSpPr>
        <p:spPr>
          <a:xfrm>
            <a:off x="170543" y="533400"/>
            <a:ext cx="8763000" cy="5486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GB" sz="2000" b="1" dirty="0">
                <a:latin typeface="Times New Roman" pitchFamily="18" charset="0"/>
                <a:cs typeface="Times New Roman" pitchFamily="18" charset="0"/>
              </a:rPr>
              <a:t>Limitations: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Green coverage uses available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land-use/OSM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data and may not capture: 	canopy density, tree height/shading and private green areas.</a:t>
            </a:r>
          </a:p>
          <a:p>
            <a:pPr lvl="1"/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Historical microclimate measurements (air temperature at street level).</a:t>
            </a:r>
          </a:p>
          <a:p>
            <a:pPr lvl="1"/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Precise population density per neighbourhood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to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identify heat-vulnerable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populations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pPr lvl="1"/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  <a:p>
            <a:pPr marL="342900" lvl="1" indent="-342900">
              <a:buFont typeface="Arial" pitchFamily="34" charset="0"/>
              <a:buChar char="•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Missing Data Sources:</a:t>
            </a:r>
            <a:endParaRPr lang="en-GB" sz="2000" b="1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Population data: Berlin Open Data portals.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➝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Air </a:t>
            </a:r>
            <a:r>
              <a:rPr lang="en-US" sz="2000" dirty="0">
                <a:latin typeface="Times New Roman" pitchFamily="18" charset="0"/>
                <a:cs typeface="Times New Roman" pitchFamily="18" charset="0"/>
                <a:sym typeface="Helvetica Neue"/>
              </a:rPr>
              <a:t>t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emperature: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Street-level temperature sensors or local weather station.</a:t>
            </a:r>
          </a:p>
          <a:p>
            <a:pPr lvl="1"/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endParaRPr lang="en-GB"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4896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3"/>
          <p:cNvSpPr txBox="1">
            <a:spLocks noGrp="1"/>
          </p:cNvSpPr>
          <p:nvPr>
            <p:ph type="title"/>
          </p:nvPr>
        </p:nvSpPr>
        <p:spPr>
          <a:xfrm>
            <a:off x="284838" y="615312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400" b="1">
                <a:latin typeface="Helvetica Neue"/>
                <a:ea typeface="Helvetica Neue"/>
                <a:cs typeface="Helvetica Neue"/>
                <a:sym typeface="Helvetica Neue"/>
              </a:rPr>
              <a:t>Methods</a:t>
            </a:r>
            <a:endParaRPr/>
          </a:p>
        </p:txBody>
      </p:sp>
      <p:sp>
        <p:nvSpPr>
          <p:cNvPr id="197" name="Google Shape;197;p23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6</a:t>
            </a:fld>
            <a:endParaRPr/>
          </a:p>
        </p:txBody>
      </p:sp>
      <p:sp>
        <p:nvSpPr>
          <p:cNvPr id="198" name="Google Shape;198;p23"/>
          <p:cNvSpPr txBox="1"/>
          <p:nvPr/>
        </p:nvSpPr>
        <p:spPr>
          <a:xfrm>
            <a:off x="284838" y="914400"/>
            <a:ext cx="8574324" cy="5638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</a:pPr>
            <a:r>
              <a:rPr lang="en-US" sz="20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Three prototypical approaches:</a:t>
            </a:r>
            <a:endParaRPr dirty="0"/>
          </a:p>
          <a:p>
            <a:r>
              <a:rPr lang="en-GB" b="1" dirty="0"/>
              <a:t>Exploratory Data Analysis (EDA)</a:t>
            </a:r>
          </a:p>
          <a:p>
            <a:r>
              <a:rPr lang="en-GB" b="1" dirty="0"/>
              <a:t>Purpose:</a:t>
            </a:r>
            <a:r>
              <a:rPr lang="en-GB" dirty="0"/>
              <a:t> Understand the spatial distribution of temperature and green areas across Berlin.</a:t>
            </a:r>
          </a:p>
          <a:p>
            <a:r>
              <a:rPr lang="en-GB" b="1" dirty="0"/>
              <a:t>Steps performed:</a:t>
            </a:r>
            <a:endParaRPr lang="en-GB" dirty="0"/>
          </a:p>
          <a:p>
            <a:pPr lvl="1"/>
            <a:r>
              <a:rPr lang="en-GB" dirty="0"/>
              <a:t>Calculated </a:t>
            </a:r>
            <a:r>
              <a:rPr lang="en-GB" b="1" dirty="0"/>
              <a:t>average summer temperature (June–August)</a:t>
            </a:r>
            <a:r>
              <a:rPr lang="en-GB" dirty="0"/>
              <a:t> for each Berlin area over 5 years.</a:t>
            </a:r>
          </a:p>
          <a:p>
            <a:pPr lvl="1"/>
            <a:r>
              <a:rPr lang="en-GB" dirty="0"/>
              <a:t>Computed </a:t>
            </a:r>
            <a:r>
              <a:rPr lang="en-GB" b="1" dirty="0"/>
              <a:t>green coverage per area</a:t>
            </a:r>
            <a:r>
              <a:rPr lang="en-GB" dirty="0"/>
              <a:t> using OSM polygons (parks, forests, gardens).</a:t>
            </a:r>
          </a:p>
          <a:p>
            <a:pPr lvl="1"/>
            <a:r>
              <a:rPr lang="en-GB" dirty="0"/>
              <a:t>Visualized </a:t>
            </a:r>
            <a:r>
              <a:rPr lang="en-GB" b="1" dirty="0"/>
              <a:t>correlation between temperature and green coverage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Identified </a:t>
            </a:r>
            <a:r>
              <a:rPr lang="en-GB" b="1" dirty="0"/>
              <a:t>hotspots with low greenery</a:t>
            </a:r>
            <a:r>
              <a:rPr lang="en-GB" dirty="0"/>
              <a:t>, which may need tree plantation.</a:t>
            </a:r>
          </a:p>
          <a:p>
            <a:pPr marL="204534" marR="0" lvl="0" indent="-7753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r>
              <a:rPr lang="en-GB" b="1" dirty="0"/>
              <a:t>Prototype / Demonstrator</a:t>
            </a:r>
          </a:p>
          <a:p>
            <a:r>
              <a:rPr lang="en-GB" b="1" dirty="0"/>
              <a:t>Purpose:</a:t>
            </a:r>
            <a:r>
              <a:rPr lang="en-GB" dirty="0"/>
              <a:t> Turn EDA results into an </a:t>
            </a:r>
            <a:r>
              <a:rPr lang="en-GB" b="1" dirty="0"/>
              <a:t>interactive, visual tool</a:t>
            </a:r>
            <a:r>
              <a:rPr lang="en-GB" dirty="0"/>
              <a:t> for policymakers.</a:t>
            </a:r>
          </a:p>
          <a:p>
            <a:r>
              <a:rPr lang="en-GB" b="1" dirty="0"/>
              <a:t>Steps performed:</a:t>
            </a:r>
            <a:endParaRPr lang="en-GB" dirty="0"/>
          </a:p>
          <a:p>
            <a:pPr lvl="1"/>
            <a:r>
              <a:rPr lang="en-GB" dirty="0"/>
              <a:t>Built a </a:t>
            </a:r>
            <a:r>
              <a:rPr lang="en-GB" b="1" dirty="0"/>
              <a:t>tree priority score</a:t>
            </a:r>
            <a:r>
              <a:rPr lang="en-GB" dirty="0"/>
              <a:t> combining </a:t>
            </a:r>
            <a:r>
              <a:rPr lang="en-GB" b="1" dirty="0"/>
              <a:t>temperature and green coverage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Created </a:t>
            </a:r>
            <a:r>
              <a:rPr lang="en-GB" b="1" dirty="0"/>
              <a:t>an interactive map</a:t>
            </a:r>
            <a:r>
              <a:rPr lang="en-GB" dirty="0"/>
              <a:t> with Folium:</a:t>
            </a:r>
          </a:p>
          <a:p>
            <a:pPr lvl="2"/>
            <a:r>
              <a:rPr lang="en-GB" b="1" dirty="0"/>
              <a:t>Red areas = high tree plantation priority</a:t>
            </a:r>
            <a:endParaRPr lang="en-GB" dirty="0"/>
          </a:p>
          <a:p>
            <a:pPr lvl="2"/>
            <a:r>
              <a:rPr lang="en-GB" b="1" dirty="0"/>
              <a:t>Green areas = low priority</a:t>
            </a:r>
            <a:endParaRPr lang="en-GB" dirty="0"/>
          </a:p>
          <a:p>
            <a:pPr lvl="1"/>
            <a:r>
              <a:rPr lang="en-GB" dirty="0"/>
              <a:t>Map allows </a:t>
            </a:r>
            <a:r>
              <a:rPr lang="en-GB" b="1" dirty="0"/>
              <a:t>hovering for detailed stats</a:t>
            </a:r>
            <a:r>
              <a:rPr lang="en-GB" dirty="0"/>
              <a:t> (temperature, green coverage, priority score).</a:t>
            </a:r>
          </a:p>
          <a:p>
            <a:r>
              <a:rPr lang="en-GB" b="1" dirty="0"/>
              <a:t>Value:</a:t>
            </a:r>
            <a:r>
              <a:rPr lang="en-GB" dirty="0"/>
              <a:t> Provides a </a:t>
            </a:r>
            <a:r>
              <a:rPr lang="en-GB" b="1" dirty="0"/>
              <a:t>visual decision-making tool</a:t>
            </a:r>
            <a:r>
              <a:rPr lang="en-GB" dirty="0"/>
              <a:t>, not just static charts</a:t>
            </a:r>
            <a:r>
              <a:rPr lang="en-GB" dirty="0" smtClean="0"/>
              <a:t>.</a:t>
            </a:r>
          </a:p>
          <a:p>
            <a:r>
              <a:rPr lang="en-GB" dirty="0" smtClean="0"/>
              <a:t>Insert equation with </a:t>
            </a:r>
            <a:r>
              <a:rPr lang="en-GB" dirty="0" err="1" smtClean="0"/>
              <a:t>referenxe</a:t>
            </a:r>
            <a:endParaRPr lang="en-GB" dirty="0"/>
          </a:p>
          <a:p>
            <a:pPr marL="204534" marR="0" lvl="0" indent="-7753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204534" marR="0" lvl="0" indent="-20453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Char char="•"/>
            </a:pPr>
            <a:r>
              <a:rPr lang="en-US" sz="2000" b="0" i="0" u="none" strike="noStrike" cap="none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ML </a:t>
            </a:r>
            <a:r>
              <a:rPr lang="en-US" sz="2000" b="0" i="0" u="none" strike="noStrike" cap="none" dirty="0" err="1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modelling</a:t>
            </a:r>
            <a:r>
              <a:rPr lang="en-US" sz="2000" b="0" i="0" u="none" strike="noStrike" cap="none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</a:t>
            </a:r>
            <a:endParaRPr dirty="0">
              <a:solidFill>
                <a:srgbClr val="FF0000"/>
              </a:solidFill>
            </a:endParaRPr>
          </a:p>
          <a:p>
            <a:pPr marL="463614" marR="0" lvl="1" indent="-20453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Char char="•"/>
            </a:pPr>
            <a:r>
              <a:rPr lang="en-US" sz="2000" b="0" i="0" u="none" strike="noStrike" cap="none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Focus on </a:t>
            </a:r>
            <a:r>
              <a:rPr lang="en-US" sz="2000" b="0" i="0" u="none" strike="noStrike" cap="none" dirty="0" err="1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modelling</a:t>
            </a:r>
            <a:r>
              <a:rPr lang="en-US" sz="2000" b="0" i="0" u="none" strike="noStrike" cap="none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rather than pure EDA to address problem </a:t>
            </a:r>
            <a:endParaRPr dirty="0">
              <a:solidFill>
                <a:srgbClr val="FF0000"/>
              </a:solidFill>
            </a:endParaRPr>
          </a:p>
          <a:p>
            <a:pPr marL="463614" marR="0" lvl="1" indent="-20453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Char char="•"/>
            </a:pPr>
            <a:r>
              <a:rPr lang="en-US" sz="2000" b="0" i="0" u="none" strike="noStrike" cap="none" dirty="0">
                <a:solidFill>
                  <a:srgbClr val="FF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Can be part of a demonstrator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284838" y="615312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Results : Dashboard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" name="Google Shape;204;p24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7</a:t>
            </a:fld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752599"/>
            <a:ext cx="8276768" cy="38862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268514" y="533400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Result 01: Heat Map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" name="Google Shape;204;p24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8</a:t>
            </a:fld>
            <a:endParaRPr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03647"/>
            <a:ext cx="2517814" cy="470851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111896"/>
            <a:ext cx="5791200" cy="489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304800" y="533400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Result 02 : Greenery Map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" name="Google Shape;204;p24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9</a:t>
            </a:fld>
            <a:endParaRPr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295398"/>
            <a:ext cx="6316300" cy="514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454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225022" y="381000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Result 03 : Tree Plantation Priority Map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" name="Google Shape;204;p24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10</a:t>
            </a:fld>
            <a:endParaRPr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68" y="1066800"/>
            <a:ext cx="8044432" cy="512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188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304800" y="762000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dirty="0" smtClean="0">
                <a:latin typeface="Times New Roman" pitchFamily="18" charset="0"/>
                <a:cs typeface="Times New Roman" pitchFamily="18" charset="0"/>
              </a:rPr>
              <a:t>Problem 01</a:t>
            </a:r>
            <a:r>
              <a:rPr lang="en-US" sz="25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: Low Temperature with Low Greenery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" name="Google Shape;204;p24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11</a:t>
            </a:fld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621971"/>
            <a:ext cx="7915705" cy="416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529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4"/>
          <p:cNvSpPr txBox="1">
            <a:spLocks noGrp="1"/>
          </p:cNvSpPr>
          <p:nvPr>
            <p:ph type="title"/>
          </p:nvPr>
        </p:nvSpPr>
        <p:spPr>
          <a:xfrm>
            <a:off x="351967" y="762000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dirty="0" smtClean="0">
                <a:latin typeface="Times New Roman" pitchFamily="18" charset="0"/>
                <a:cs typeface="Times New Roman" pitchFamily="18" charset="0"/>
              </a:rPr>
              <a:t>Problem 02</a:t>
            </a:r>
            <a:r>
              <a:rPr lang="en-US" sz="2500" b="1" dirty="0" smtClean="0">
                <a:latin typeface="Times New Roman" pitchFamily="18" charset="0"/>
                <a:cs typeface="Times New Roman" pitchFamily="18" charset="0"/>
                <a:sym typeface="Helvetica Neue"/>
              </a:rPr>
              <a:t>: Area Boarder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4" name="Google Shape;204;p24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12</a:t>
            </a:fld>
            <a:endParaRPr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8229" y="1828799"/>
            <a:ext cx="6781800" cy="401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280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5"/>
          <p:cNvSpPr txBox="1">
            <a:spLocks noGrp="1"/>
          </p:cNvSpPr>
          <p:nvPr>
            <p:ph type="title"/>
          </p:nvPr>
        </p:nvSpPr>
        <p:spPr>
          <a:xfrm>
            <a:off x="248552" y="621266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b="1" dirty="0">
                <a:latin typeface="Times New Roman" pitchFamily="18" charset="0"/>
                <a:cs typeface="Times New Roman" pitchFamily="18" charset="0"/>
                <a:sym typeface="Helvetica Neue"/>
              </a:rPr>
              <a:t>Discussion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1" name="Google Shape;211;p25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13</a:t>
            </a:fld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152400" y="1371600"/>
            <a:ext cx="8706762" cy="50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GB" sz="2000" b="1" dirty="0"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tatistical Findings :</a:t>
            </a:r>
          </a:p>
          <a:p>
            <a:pPr marL="342900" indent="-342900">
              <a:buFont typeface="Arial" pitchFamily="34" charset="0"/>
              <a:buChar char="•"/>
            </a:pPr>
            <a:endParaRPr lang="en-GB" sz="2000" b="1" dirty="0" smtClean="0">
              <a:latin typeface="Times New Roman" pitchFamily="18" charset="0"/>
              <a:cs typeface="Times New Roman" pitchFamily="18" charset="0"/>
            </a:endParaRPr>
          </a:p>
          <a:p>
            <a:pPr lvl="6">
              <a:buSzPct val="100000"/>
            </a:pP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	1. T-Test: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t-test compares the mean temperature of two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groups: low-	green areas </a:t>
            </a:r>
            <a:r>
              <a:rPr lang="en-GB" sz="2000" dirty="0" err="1">
                <a:latin typeface="Times New Roman" pitchFamily="18" charset="0"/>
                <a:cs typeface="Times New Roman" pitchFamily="18" charset="0"/>
              </a:rPr>
              <a:t>vs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 high-green areas.</a:t>
            </a: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Goal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: To check whether green coverage leads to significantly different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temperatures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Result: </a:t>
            </a:r>
            <a:r>
              <a:rPr lang="en-GB" sz="2000" i="1" dirty="0" smtClean="0">
                <a:latin typeface="Times New Roman" pitchFamily="18" charset="0"/>
                <a:cs typeface="Times New Roman" pitchFamily="18" charset="0"/>
              </a:rPr>
              <a:t>t </a:t>
            </a:r>
            <a:r>
              <a:rPr lang="en-GB" sz="2000" i="1" dirty="0">
                <a:latin typeface="Times New Roman" pitchFamily="18" charset="0"/>
                <a:cs typeface="Times New Roman" pitchFamily="18" charset="0"/>
              </a:rPr>
              <a:t>= 4.256, p = 0.000050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pPr lvl="1"/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This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very low p-value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shows that low-green areas are significantly hotter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than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high-green areas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1"/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	2. Spearman </a:t>
            </a:r>
            <a:r>
              <a:rPr lang="en-GB" sz="2000" b="1" dirty="0">
                <a:latin typeface="Times New Roman" pitchFamily="18" charset="0"/>
                <a:cs typeface="Times New Roman" pitchFamily="18" charset="0"/>
              </a:rPr>
              <a:t>C</a:t>
            </a: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orrelation :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Spearman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correlation measures the monotonic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relationship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between two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variables: green coverage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temperature.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It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does not assume linearity, so it works well for environmental data.</a:t>
            </a: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Result: </a:t>
            </a:r>
            <a:r>
              <a:rPr lang="en-GB" sz="2000" i="1" dirty="0" smtClean="0">
                <a:latin typeface="Times New Roman" pitchFamily="18" charset="0"/>
                <a:cs typeface="Times New Roman" pitchFamily="18" charset="0"/>
              </a:rPr>
              <a:t>ρ </a:t>
            </a:r>
            <a:r>
              <a:rPr lang="en-GB" sz="2000" i="1" dirty="0">
                <a:latin typeface="Times New Roman" pitchFamily="18" charset="0"/>
                <a:cs typeface="Times New Roman" pitchFamily="18" charset="0"/>
              </a:rPr>
              <a:t>= –0.380, p = </a:t>
            </a:r>
            <a:r>
              <a:rPr lang="en-GB" sz="2000" i="1" dirty="0" smtClean="0">
                <a:latin typeface="Times New Roman" pitchFamily="18" charset="0"/>
                <a:cs typeface="Times New Roman" pitchFamily="18" charset="0"/>
              </a:rPr>
              <a:t>0.000030</a:t>
            </a:r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There is a moderate negative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correlation: more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green coverage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is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associated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with lower temperature.</a:t>
            </a:r>
          </a:p>
          <a:p>
            <a:pPr marL="342900" indent="-342900">
              <a:buFont typeface="Arial" pitchFamily="34" charset="0"/>
              <a:buChar char="•"/>
            </a:pPr>
            <a:endParaRPr lang="en-GB" sz="2000" b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5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14</a:t>
            </a:fld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192315" y="5791200"/>
            <a:ext cx="870676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V</a:t>
            </a:r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isual </a:t>
            </a:r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representation of the </a:t>
            </a:r>
            <a:r>
              <a:rPr lang="en-GB" sz="1500" b="1" dirty="0">
                <a:latin typeface="Times New Roman" pitchFamily="18" charset="0"/>
                <a:cs typeface="Times New Roman" pitchFamily="18" charset="0"/>
              </a:rPr>
              <a:t>T-test</a:t>
            </a:r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, showing whether areas with less greenery are significantly </a:t>
            </a:r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hotter</a:t>
            </a:r>
            <a:endParaRPr lang="en-GB" sz="15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967" y="647700"/>
            <a:ext cx="6934200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240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5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15</a:t>
            </a:fld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192315" y="5638800"/>
            <a:ext cx="870676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Visualize the </a:t>
            </a:r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relationship between green coverage </a:t>
            </a:r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and </a:t>
            </a:r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mean temperature</a:t>
            </a:r>
            <a:r>
              <a:rPr lang="en-GB" sz="1600" dirty="0"/>
              <a:t>.</a:t>
            </a:r>
            <a:endParaRPr lang="en-GB" sz="1500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corresponds to </a:t>
            </a:r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Spearman correlation value (rho = –0.38), demonstrating a negative relationship between vegetation and heat.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73" y="239488"/>
            <a:ext cx="7254246" cy="5181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08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5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16</a:t>
            </a:fld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221344" y="5810250"/>
            <a:ext cx="870676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algn="ctr"/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Visualize the </a:t>
            </a:r>
            <a:r>
              <a:rPr lang="en-GB" sz="1500" dirty="0">
                <a:latin typeface="Times New Roman" pitchFamily="18" charset="0"/>
                <a:cs typeface="Times New Roman" pitchFamily="18" charset="0"/>
              </a:rPr>
              <a:t>spread and distribution </a:t>
            </a:r>
            <a:r>
              <a:rPr lang="en-GB" sz="1500" dirty="0" smtClean="0">
                <a:latin typeface="Times New Roman" pitchFamily="18" charset="0"/>
                <a:cs typeface="Times New Roman" pitchFamily="18" charset="0"/>
              </a:rPr>
              <a:t>differences</a:t>
            </a:r>
            <a:endParaRPr lang="en-GB" sz="15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938" y="460829"/>
            <a:ext cx="7147573" cy="5105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901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5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17</a:t>
            </a:fld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284838" y="533400"/>
            <a:ext cx="8630562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Interpretation:</a:t>
            </a:r>
            <a:endParaRPr lang="en-GB" sz="2000" b="1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Both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tests strongly support the conclusion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that: 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Green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areas help reduce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urban heat.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Statistical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evidence confirms that differences in temperature are not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random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, but linked to vegetation distribution.</a:t>
            </a: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This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justifies using green coverage as a basis for tree-planting priority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mapping.</a:t>
            </a:r>
          </a:p>
          <a:p>
            <a:endParaRPr lang="en-GB" sz="20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b="1" dirty="0">
                <a:latin typeface="Times New Roman" pitchFamily="18" charset="0"/>
                <a:cs typeface="Times New Roman" pitchFamily="18" charset="0"/>
              </a:rPr>
              <a:t>Implications for Urban </a:t>
            </a:r>
            <a:r>
              <a:rPr lang="en-GB" sz="2000" b="1" dirty="0" smtClean="0">
                <a:latin typeface="Times New Roman" pitchFamily="18" charset="0"/>
                <a:cs typeface="Times New Roman" pitchFamily="18" charset="0"/>
              </a:rPr>
              <a:t>Planning:</a:t>
            </a:r>
            <a:endParaRPr lang="en-GB" sz="2000" b="1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Areas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with low green coverage could benefit most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from:</a:t>
            </a:r>
          </a:p>
          <a:p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	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tree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planting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programs, expanding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parks or green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corridors and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  <a:p>
            <a:pPr lvl="1"/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cooling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urban design (shade structures, permeable surfaces)</a:t>
            </a:r>
          </a:p>
          <a:p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➝ Results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can guide priority mapping, helping decision-makers allocate 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	resources </a:t>
            </a: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more effectively</a:t>
            </a:r>
            <a:r>
              <a:rPr lang="en-GB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GB" sz="20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22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5"/>
          <p:cNvSpPr txBox="1">
            <a:spLocks noGrp="1"/>
          </p:cNvSpPr>
          <p:nvPr>
            <p:ph type="title"/>
          </p:nvPr>
        </p:nvSpPr>
        <p:spPr>
          <a:xfrm>
            <a:off x="234038" y="762000"/>
            <a:ext cx="8574324" cy="369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lang="en-US" sz="2500" dirty="0" smtClean="0">
                <a:latin typeface="Times New Roman" pitchFamily="18" charset="0"/>
                <a:cs typeface="Times New Roman" pitchFamily="18" charset="0"/>
              </a:rPr>
              <a:t>Source Code</a:t>
            </a:r>
            <a:endParaRPr sz="25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1" name="Google Shape;211;p25"/>
          <p:cNvSpPr txBox="1">
            <a:spLocks noGrp="1"/>
          </p:cNvSpPr>
          <p:nvPr>
            <p:ph type="sldNum" idx="4294967295"/>
          </p:nvPr>
        </p:nvSpPr>
        <p:spPr>
          <a:xfrm>
            <a:off x="8719821" y="6301572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Helvetica Neue"/>
              <a:buNone/>
            </a:pPr>
            <a:fld id="{00000000-1234-1234-1234-123412341234}" type="slidenum">
              <a:rPr lang="en-US" sz="800" b="1"/>
              <a:t>18</a:t>
            </a:fld>
            <a:endParaRPr/>
          </a:p>
        </p:txBody>
      </p:sp>
      <p:sp>
        <p:nvSpPr>
          <p:cNvPr id="212" name="Google Shape;212;p25"/>
          <p:cNvSpPr txBox="1"/>
          <p:nvPr/>
        </p:nvSpPr>
        <p:spPr>
          <a:xfrm>
            <a:off x="533400" y="1738735"/>
            <a:ext cx="8249562" cy="3380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</a:pPr>
            <a:r>
              <a:rPr lang="en-US" sz="2000" b="1" i="0" u="none" strike="noStrike" cap="none" dirty="0" err="1" smtClean="0">
                <a:solidFill>
                  <a:srgbClr val="000000"/>
                </a:solidFill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Github</a:t>
            </a:r>
            <a:r>
              <a:rPr lang="en-US" sz="2000" b="1" i="0" u="none" strike="noStrike" cap="none" dirty="0" smtClean="0">
                <a:solidFill>
                  <a:srgbClr val="000000"/>
                </a:solidFill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 link: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"/>
              <a:buNone/>
            </a:pPr>
            <a:endParaRPr lang="en-US" sz="2000" dirty="0"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  <a:p>
            <a:pPr lvl="0">
              <a:buSzPts val="2000"/>
            </a:pPr>
            <a:r>
              <a:rPr lang="en-GB" sz="2000" dirty="0">
                <a:latin typeface="Times New Roman" pitchFamily="18" charset="0"/>
                <a:cs typeface="Times New Roman" pitchFamily="18" charset="0"/>
              </a:rPr>
              <a:t>➝ </a:t>
            </a:r>
            <a:r>
              <a:rPr lang="en-US" sz="2000" dirty="0" smtClean="0"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https</a:t>
            </a:r>
            <a:r>
              <a:rPr lang="en-US" sz="2000" dirty="0"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://</a:t>
            </a:r>
            <a:r>
              <a:rPr lang="en-US" sz="2000" dirty="0" smtClean="0">
                <a:latin typeface="Times New Roman" pitchFamily="18" charset="0"/>
                <a:ea typeface="Helvetica Neue"/>
                <a:cs typeface="Times New Roman" pitchFamily="18" charset="0"/>
                <a:sym typeface="Helvetica Neue"/>
              </a:rPr>
              <a:t>github.com/Nusrat2810/Heat_Map_Urban_technology</a:t>
            </a:r>
            <a:endParaRPr sz="2000" b="0" i="0" u="none" strike="noStrike" cap="none" dirty="0">
              <a:solidFill>
                <a:srgbClr val="000000"/>
              </a:solidFill>
              <a:latin typeface="Times New Roman" pitchFamily="18" charset="0"/>
              <a:ea typeface="Helvetica Neue"/>
              <a:cs typeface="Times New Roman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746760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HT PPT Master 2021_4 zu 3">
  <a:themeElements>
    <a:clrScheme name="BHT PPT Master 2021_4 zu 3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0AA"/>
      </a:accent1>
      <a:accent2>
        <a:srgbClr val="555555"/>
      </a:accent2>
      <a:accent3>
        <a:srgbClr val="EA3B07"/>
      </a:accent3>
      <a:accent4>
        <a:srgbClr val="FFC900"/>
      </a:accent4>
      <a:accent5>
        <a:srgbClr val="004282"/>
      </a:accent5>
      <a:accent6>
        <a:srgbClr val="30303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HT PPT Master 2021_4 zu 3">
  <a:themeElements>
    <a:clrScheme name="BHT PPT Master 2021_4 zu 3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0AA"/>
      </a:accent1>
      <a:accent2>
        <a:srgbClr val="555555"/>
      </a:accent2>
      <a:accent3>
        <a:srgbClr val="EA3B07"/>
      </a:accent3>
      <a:accent4>
        <a:srgbClr val="FFC900"/>
      </a:accent4>
      <a:accent5>
        <a:srgbClr val="004282"/>
      </a:accent5>
      <a:accent6>
        <a:srgbClr val="30303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309</Words>
  <Application>Microsoft Office PowerPoint</Application>
  <PresentationFormat>On-screen Show (4:3)</PresentationFormat>
  <Paragraphs>124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Helvetica Neue Light</vt:lpstr>
      <vt:lpstr>Helvetica Neue</vt:lpstr>
      <vt:lpstr>Times New Roman</vt:lpstr>
      <vt:lpstr>BHT PPT Master 2021_4 zu 3</vt:lpstr>
      <vt:lpstr>Urban Shade: Data Driven Tree Plantation</vt:lpstr>
      <vt:lpstr>PowerPoint Presentation</vt:lpstr>
      <vt:lpstr>PowerPoint Presentation</vt:lpstr>
      <vt:lpstr>PowerPoint Presentation</vt:lpstr>
      <vt:lpstr>PowerPoint Presentation</vt:lpstr>
      <vt:lpstr>Methods</vt:lpstr>
      <vt:lpstr>Results : Dashboard</vt:lpstr>
      <vt:lpstr>Result 01: Heat Map</vt:lpstr>
      <vt:lpstr>Result 02 : Greenery Map</vt:lpstr>
      <vt:lpstr>Result 03 : Tree Plantation Priority Map</vt:lpstr>
      <vt:lpstr>Problem 01: Low Temperature with Low Greenery</vt:lpstr>
      <vt:lpstr>Problem 02: Area Boarder</vt:lpstr>
      <vt:lpstr>Discussion</vt:lpstr>
      <vt:lpstr>PowerPoint Presentation</vt:lpstr>
      <vt:lpstr>PowerPoint Presentation</vt:lpstr>
      <vt:lpstr>PowerPoint Presentation</vt:lpstr>
      <vt:lpstr>PowerPoint Presentation</vt:lpstr>
      <vt:lpstr>Source Code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Shade: Data Driven Tree Plantation</dc:title>
  <cp:lastModifiedBy>DELL</cp:lastModifiedBy>
  <cp:revision>27</cp:revision>
  <dcterms:modified xsi:type="dcterms:W3CDTF">2025-12-07T09:29:02Z</dcterms:modified>
</cp:coreProperties>
</file>