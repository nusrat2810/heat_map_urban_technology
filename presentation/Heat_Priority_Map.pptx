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21"/>
  </p:notesMasterIdLst>
  <p:sldIdLst>
    <p:sldId id="256" r:id="rId2"/>
    <p:sldId id="264" r:id="rId3"/>
    <p:sldId id="263" r:id="rId4"/>
    <p:sldId id="258" r:id="rId5"/>
    <p:sldId id="265" r:id="rId6"/>
    <p:sldId id="259" r:id="rId7"/>
    <p:sldId id="275" r:id="rId8"/>
    <p:sldId id="260" r:id="rId9"/>
    <p:sldId id="270" r:id="rId10"/>
    <p:sldId id="271" r:id="rId11"/>
    <p:sldId id="272" r:id="rId12"/>
    <p:sldId id="273" r:id="rId13"/>
    <p:sldId id="274" r:id="rId14"/>
    <p:sldId id="261" r:id="rId15"/>
    <p:sldId id="267" r:id="rId16"/>
    <p:sldId id="268" r:id="rId17"/>
    <p:sldId id="269" r:id="rId18"/>
    <p:sldId id="266" r:id="rId19"/>
    <p:sldId id="262" r:id="rId20"/>
  </p:sldIdLst>
  <p:sldSz cx="9144000" cy="6858000" type="screen4x3"/>
  <p:notesSz cx="6858000" cy="9144000"/>
  <p:embeddedFontLst>
    <p:embeddedFont>
      <p:font typeface="Helvetica Neue Light" charset="0"/>
      <p:regular r:id="rId22"/>
      <p:bold r:id="rId23"/>
      <p:italic r:id="rId24"/>
      <p:boldItalic r:id="rId25"/>
    </p:embeddedFont>
    <p:embeddedFont>
      <p:font typeface="Cambria Math" pitchFamily="18" charset="0"/>
      <p:regular r:id="rId26"/>
    </p:embeddedFont>
    <p:embeddedFont>
      <p:font typeface="Helvetica Neue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61372" autoAdjust="0"/>
  </p:normalViewPr>
  <p:slideViewPr>
    <p:cSldViewPr>
      <p:cViewPr>
        <p:scale>
          <a:sx n="66" d="100"/>
          <a:sy n="66" d="100"/>
        </p:scale>
        <p:origin x="-1506" y="-24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7098703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" name="Google Shape;18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" name="Google Shape;18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4487256">
            <a:off x="525189" y="1438443"/>
            <a:ext cx="4997580" cy="430831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lnTo>
                  <a:pt x="5412" y="0"/>
                </a:lnTo>
                <a:lnTo>
                  <a:pt x="16188" y="0"/>
                </a:lnTo>
                <a:lnTo>
                  <a:pt x="21600" y="10800"/>
                </a:lnTo>
                <a:lnTo>
                  <a:pt x="16188" y="21600"/>
                </a:lnTo>
                <a:lnTo>
                  <a:pt x="5412" y="216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Helvetica Neue"/>
              <a:buNone/>
            </a:pPr>
            <a:endParaRPr sz="1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1216056" y="2417790"/>
            <a:ext cx="5776277" cy="34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4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1216056" y="3867346"/>
            <a:ext cx="5776277" cy="15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sz="10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sz="10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sz="1000"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2"/>
          </p:nvPr>
        </p:nvSpPr>
        <p:spPr>
          <a:xfrm rot="2676888">
            <a:off x="3361090" y="3840700"/>
            <a:ext cx="27002" cy="35399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pic>
        <p:nvPicPr>
          <p:cNvPr id="14" name="Google Shape;14;p2" descr="Google Shape;14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25762" y="433485"/>
            <a:ext cx="1734925" cy="309990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6426199" y="6292850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 b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3"/>
          <p:cNvGrpSpPr/>
          <p:nvPr/>
        </p:nvGrpSpPr>
        <p:grpSpPr>
          <a:xfrm>
            <a:off x="7952077" y="6167708"/>
            <a:ext cx="674350" cy="690304"/>
            <a:chOff x="-1" y="-1"/>
            <a:chExt cx="674349" cy="690303"/>
          </a:xfrm>
        </p:grpSpPr>
        <p:sp>
          <p:nvSpPr>
            <p:cNvPr id="18" name="Google Shape;18;p3"/>
            <p:cNvSpPr/>
            <p:nvPr/>
          </p:nvSpPr>
          <p:spPr>
            <a:xfrm>
              <a:off x="-1" y="-1"/>
              <a:ext cx="674349" cy="69030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248" y="0"/>
                  </a:lnTo>
                  <a:lnTo>
                    <a:pt x="21600" y="0"/>
                  </a:lnTo>
                  <a:lnTo>
                    <a:pt x="352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"/>
                <a:buFont typeface="Helvetica Neue"/>
                <a:buNone/>
              </a:pPr>
              <a:endParaRPr sz="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9" name="Google Shape;19;p3"/>
            <p:cNvSpPr txBox="1"/>
            <p:nvPr/>
          </p:nvSpPr>
          <p:spPr>
            <a:xfrm>
              <a:off x="296036" y="281649"/>
              <a:ext cx="82276" cy="127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"/>
                <a:buFont typeface="Helvetica Neue"/>
                <a:buNone/>
              </a:pPr>
              <a:r>
                <a:rPr lang="en-US" sz="1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.</a:t>
              </a:r>
              <a:endParaRPr/>
            </a:p>
          </p:txBody>
        </p:sp>
      </p:grp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284836" y="615312"/>
            <a:ext cx="8574326" cy="369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4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284836" y="1855366"/>
            <a:ext cx="8574326" cy="387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•"/>
              <a:defRPr sz="1200"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719822" y="6301573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 b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 02">
  <p:cSld name="Titelfolie 0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>
            <a:spLocks noGrp="1"/>
          </p:cNvSpPr>
          <p:nvPr>
            <p:ph type="pic" idx="2"/>
          </p:nvPr>
        </p:nvSpPr>
        <p:spPr>
          <a:xfrm>
            <a:off x="1157671" y="1050201"/>
            <a:ext cx="4757598" cy="4757598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51521" y="2287065"/>
            <a:ext cx="5776275" cy="34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4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251521" y="3840245"/>
            <a:ext cx="5776275" cy="15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sz="10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sz="10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sz="1000"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pic>
        <p:nvPicPr>
          <p:cNvPr id="27" name="Google Shape;27;p4" descr="Google Shape;31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25620" y="433485"/>
            <a:ext cx="1735069" cy="309990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/>
        </p:nvSpPr>
        <p:spPr>
          <a:xfrm rot="5400000">
            <a:off x="7822719" y="4859920"/>
            <a:ext cx="1223418" cy="186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Studiere Zukunft</a:t>
            </a: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3"/>
          </p:nvPr>
        </p:nvSpPr>
        <p:spPr>
          <a:xfrm rot="2676888">
            <a:off x="1535258" y="3841343"/>
            <a:ext cx="27002" cy="35355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6426199" y="6292850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 b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 03">
  <p:cSld name="Titelfolie 03">
    <p:bg>
      <p:bgPr>
        <a:solidFill>
          <a:schemeClr val="accent4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>
            <a:spLocks noGrp="1"/>
          </p:cNvSpPr>
          <p:nvPr>
            <p:ph type="pic" idx="2"/>
          </p:nvPr>
        </p:nvSpPr>
        <p:spPr>
          <a:xfrm>
            <a:off x="2159250" y="1019732"/>
            <a:ext cx="4825500" cy="4818539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1216056" y="2417790"/>
            <a:ext cx="5776277" cy="34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4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1216056" y="3867346"/>
            <a:ext cx="5776277" cy="15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sz="10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sz="10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sz="1000"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3"/>
          </p:nvPr>
        </p:nvSpPr>
        <p:spPr>
          <a:xfrm rot="2676888">
            <a:off x="3361090" y="3840700"/>
            <a:ext cx="27002" cy="35399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/>
          <p:nvPr/>
        </p:nvSpPr>
        <p:spPr>
          <a:xfrm rot="5400000">
            <a:off x="7822719" y="4859920"/>
            <a:ext cx="1223418" cy="186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Studiere Zukunft</a:t>
            </a:r>
            <a:endParaRPr/>
          </a:p>
        </p:txBody>
      </p:sp>
      <p:pic>
        <p:nvPicPr>
          <p:cNvPr id="37" name="Google Shape;37;p5" descr="Google Shape;41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25762" y="433485"/>
            <a:ext cx="1734925" cy="309990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6426199" y="6292850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 b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 04">
  <p:cSld name="Titelfolie 04">
    <p:bg>
      <p:bgPr>
        <a:solidFill>
          <a:schemeClr val="accen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>
            <a:spLocks noGrp="1"/>
          </p:cNvSpPr>
          <p:nvPr>
            <p:ph type="pic" idx="2"/>
          </p:nvPr>
        </p:nvSpPr>
        <p:spPr>
          <a:xfrm>
            <a:off x="2501999" y="1358999"/>
            <a:ext cx="4140002" cy="4140002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1216056" y="2417790"/>
            <a:ext cx="5776277" cy="34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4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1216056" y="3867346"/>
            <a:ext cx="5776277" cy="15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sz="10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sz="10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  <a:defRPr sz="1000"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3"/>
          </p:nvPr>
        </p:nvSpPr>
        <p:spPr>
          <a:xfrm rot="2676888">
            <a:off x="3361090" y="3840700"/>
            <a:ext cx="27002" cy="35399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/>
          <p:nvPr/>
        </p:nvSpPr>
        <p:spPr>
          <a:xfrm rot="5400000">
            <a:off x="7822719" y="4859920"/>
            <a:ext cx="1223418" cy="186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Studiere Zukunft</a:t>
            </a:r>
            <a:endParaRPr/>
          </a:p>
        </p:txBody>
      </p:sp>
      <p:pic>
        <p:nvPicPr>
          <p:cNvPr id="45" name="Google Shape;45;p6" descr="Google Shape;4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25762" y="433485"/>
            <a:ext cx="1734925" cy="309990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6426199" y="6292850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 b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trenner 01">
  <p:cSld name="Kapiteltrenner 01">
    <p:bg>
      <p:bgPr>
        <a:solidFill>
          <a:schemeClr val="accen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 descr="Google Shape;5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9206" y="6150521"/>
            <a:ext cx="1887841" cy="2307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" name="Google Shape;49;p7"/>
          <p:cNvGrpSpPr/>
          <p:nvPr/>
        </p:nvGrpSpPr>
        <p:grpSpPr>
          <a:xfrm>
            <a:off x="7952077" y="6167708"/>
            <a:ext cx="674350" cy="690304"/>
            <a:chOff x="-1" y="-1"/>
            <a:chExt cx="674349" cy="690303"/>
          </a:xfrm>
        </p:grpSpPr>
        <p:sp>
          <p:nvSpPr>
            <p:cNvPr id="50" name="Google Shape;50;p7"/>
            <p:cNvSpPr/>
            <p:nvPr/>
          </p:nvSpPr>
          <p:spPr>
            <a:xfrm>
              <a:off x="-1" y="-1"/>
              <a:ext cx="674349" cy="69030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248" y="0"/>
                  </a:lnTo>
                  <a:lnTo>
                    <a:pt x="21600" y="0"/>
                  </a:lnTo>
                  <a:lnTo>
                    <a:pt x="352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"/>
                <a:buFont typeface="Helvetica Neue"/>
                <a:buNone/>
              </a:pPr>
              <a:endParaRPr sz="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" name="Google Shape;51;p7"/>
            <p:cNvSpPr txBox="1"/>
            <p:nvPr/>
          </p:nvSpPr>
          <p:spPr>
            <a:xfrm>
              <a:off x="296036" y="281649"/>
              <a:ext cx="82276" cy="127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"/>
                <a:buFont typeface="Helvetica Neue"/>
                <a:buNone/>
              </a:pPr>
              <a:r>
                <a:rPr lang="en-US" sz="1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.</a:t>
              </a:r>
              <a:endParaRPr/>
            </a:p>
          </p:txBody>
        </p:sp>
      </p:grpSp>
      <p:sp>
        <p:nvSpPr>
          <p:cNvPr id="52" name="Google Shape;52;p7"/>
          <p:cNvSpPr/>
          <p:nvPr/>
        </p:nvSpPr>
        <p:spPr>
          <a:xfrm>
            <a:off x="0" y="5821383"/>
            <a:ext cx="9144000" cy="10366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" name="Google Shape;53;p7"/>
          <p:cNvSpPr/>
          <p:nvPr/>
        </p:nvSpPr>
        <p:spPr>
          <a:xfrm rot="5400000">
            <a:off x="3976750" y="1487747"/>
            <a:ext cx="4816802" cy="3592803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536974" y="3111024"/>
            <a:ext cx="8070058" cy="34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None/>
              <a:defRPr sz="2200" b="1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  <a:defRPr sz="2200" b="1"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  <a:defRPr sz="2200" b="1"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  <a:defRPr sz="2200" b="1"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  <a:defRPr sz="2200" b="1"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2"/>
          </p:nvPr>
        </p:nvSpPr>
        <p:spPr>
          <a:xfrm rot="-8123111">
            <a:off x="6282751" y="-576927"/>
            <a:ext cx="27002" cy="388800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pic>
        <p:nvPicPr>
          <p:cNvPr id="56" name="Google Shape;56;p7" descr="Google Shape;6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206" y="6150521"/>
            <a:ext cx="1887841" cy="230742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/>
          <p:nvPr/>
        </p:nvSpPr>
        <p:spPr>
          <a:xfrm>
            <a:off x="7952081" y="6169119"/>
            <a:ext cx="674346" cy="6888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lnTo>
                  <a:pt x="21169" y="0"/>
                </a:lnTo>
                <a:lnTo>
                  <a:pt x="21600" y="0"/>
                </a:lnTo>
                <a:lnTo>
                  <a:pt x="431" y="216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"/>
              <a:buFont typeface="Helvetica Neue"/>
              <a:buNone/>
            </a:pPr>
            <a:endParaRPr sz="100" b="0" i="0" u="none" strike="noStrike" cap="none">
              <a:solidFill>
                <a:schemeClr val="accent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8719822" y="6301573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trenner 02">
  <p:cSld name="Kapiteltrenner 02">
    <p:bg>
      <p:bgPr>
        <a:solidFill>
          <a:schemeClr val="accent3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8" descr="Google Shape;64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9206" y="6150521"/>
            <a:ext cx="1887841" cy="2307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" name="Google Shape;61;p8"/>
          <p:cNvGrpSpPr/>
          <p:nvPr/>
        </p:nvGrpSpPr>
        <p:grpSpPr>
          <a:xfrm>
            <a:off x="7952077" y="6167708"/>
            <a:ext cx="674350" cy="690304"/>
            <a:chOff x="-1" y="-1"/>
            <a:chExt cx="674349" cy="690303"/>
          </a:xfrm>
        </p:grpSpPr>
        <p:sp>
          <p:nvSpPr>
            <p:cNvPr id="62" name="Google Shape;62;p8"/>
            <p:cNvSpPr/>
            <p:nvPr/>
          </p:nvSpPr>
          <p:spPr>
            <a:xfrm>
              <a:off x="-1" y="-1"/>
              <a:ext cx="674349" cy="69030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248" y="0"/>
                  </a:lnTo>
                  <a:lnTo>
                    <a:pt x="21600" y="0"/>
                  </a:lnTo>
                  <a:lnTo>
                    <a:pt x="352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"/>
                <a:buFont typeface="Helvetica Neue"/>
                <a:buNone/>
              </a:pPr>
              <a:endParaRPr sz="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3" name="Google Shape;63;p8"/>
            <p:cNvSpPr txBox="1"/>
            <p:nvPr/>
          </p:nvSpPr>
          <p:spPr>
            <a:xfrm>
              <a:off x="296036" y="281649"/>
              <a:ext cx="82276" cy="127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"/>
                <a:buFont typeface="Helvetica Neue"/>
                <a:buNone/>
              </a:pPr>
              <a:r>
                <a:rPr lang="en-US" sz="1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.</a:t>
              </a:r>
              <a:endParaRPr/>
            </a:p>
          </p:txBody>
        </p:sp>
      </p:grpSp>
      <p:sp>
        <p:nvSpPr>
          <p:cNvPr id="64" name="Google Shape;64;p8"/>
          <p:cNvSpPr/>
          <p:nvPr/>
        </p:nvSpPr>
        <p:spPr>
          <a:xfrm>
            <a:off x="0" y="5821383"/>
            <a:ext cx="9144000" cy="103662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8"/>
          <p:cNvSpPr/>
          <p:nvPr/>
        </p:nvSpPr>
        <p:spPr>
          <a:xfrm rot="4487256">
            <a:off x="2073210" y="1274845"/>
            <a:ext cx="4997580" cy="430831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lnTo>
                  <a:pt x="5412" y="0"/>
                </a:lnTo>
                <a:lnTo>
                  <a:pt x="16188" y="0"/>
                </a:lnTo>
                <a:lnTo>
                  <a:pt x="21600" y="10800"/>
                </a:lnTo>
                <a:lnTo>
                  <a:pt x="16188" y="21600"/>
                </a:lnTo>
                <a:lnTo>
                  <a:pt x="5412" y="216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Helvetica Neue"/>
              <a:buNone/>
            </a:pPr>
            <a:endParaRPr sz="13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" name="Google Shape;66;p8"/>
          <p:cNvSpPr txBox="1">
            <a:spLocks noGrp="1"/>
          </p:cNvSpPr>
          <p:nvPr>
            <p:ph type="body" idx="1"/>
          </p:nvPr>
        </p:nvSpPr>
        <p:spPr>
          <a:xfrm>
            <a:off x="536974" y="3091757"/>
            <a:ext cx="8070058" cy="34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None/>
              <a:defRPr sz="2200" b="1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  <a:defRPr sz="2200" b="1"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  <a:defRPr sz="2200" b="1"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  <a:defRPr sz="2200" b="1"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  <a:defRPr sz="2200" b="1"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body" idx="2"/>
          </p:nvPr>
        </p:nvSpPr>
        <p:spPr>
          <a:xfrm rot="-8123111">
            <a:off x="4481109" y="-576927"/>
            <a:ext cx="27002" cy="388800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pic>
        <p:nvPicPr>
          <p:cNvPr id="68" name="Google Shape;68;p8" descr="Google Shape;7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206" y="6150521"/>
            <a:ext cx="1887841" cy="23074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/>
          <p:nvPr/>
        </p:nvSpPr>
        <p:spPr>
          <a:xfrm>
            <a:off x="7952081" y="6169119"/>
            <a:ext cx="674346" cy="6888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lnTo>
                  <a:pt x="21169" y="0"/>
                </a:lnTo>
                <a:lnTo>
                  <a:pt x="21600" y="0"/>
                </a:lnTo>
                <a:lnTo>
                  <a:pt x="431" y="216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"/>
              <a:buFont typeface="Helvetica Neue"/>
              <a:buNone/>
            </a:pPr>
            <a:endParaRPr sz="100" b="0" i="0" u="none" strike="noStrike" cap="none">
              <a:solidFill>
                <a:schemeClr val="accent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" name="Google Shape;70;p8"/>
          <p:cNvSpPr txBox="1">
            <a:spLocks noGrp="1"/>
          </p:cNvSpPr>
          <p:nvPr>
            <p:ph type="sldNum" idx="12"/>
          </p:nvPr>
        </p:nvSpPr>
        <p:spPr>
          <a:xfrm>
            <a:off x="8719822" y="6301573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trenner 03">
  <p:cSld name="Kapiteltrenner 03">
    <p:bg>
      <p:bgPr>
        <a:solidFill>
          <a:schemeClr val="accent4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 descr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9206" y="6150521"/>
            <a:ext cx="1887841" cy="2307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" name="Google Shape;73;p9"/>
          <p:cNvGrpSpPr/>
          <p:nvPr/>
        </p:nvGrpSpPr>
        <p:grpSpPr>
          <a:xfrm>
            <a:off x="7952077" y="6167708"/>
            <a:ext cx="674350" cy="690304"/>
            <a:chOff x="-1" y="-1"/>
            <a:chExt cx="674349" cy="690303"/>
          </a:xfrm>
        </p:grpSpPr>
        <p:sp>
          <p:nvSpPr>
            <p:cNvPr id="74" name="Google Shape;74;p9"/>
            <p:cNvSpPr/>
            <p:nvPr/>
          </p:nvSpPr>
          <p:spPr>
            <a:xfrm>
              <a:off x="-1" y="-1"/>
              <a:ext cx="674349" cy="69030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248" y="0"/>
                  </a:lnTo>
                  <a:lnTo>
                    <a:pt x="21600" y="0"/>
                  </a:lnTo>
                  <a:lnTo>
                    <a:pt x="352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"/>
                <a:buFont typeface="Helvetica Neue"/>
                <a:buNone/>
              </a:pPr>
              <a:endParaRPr sz="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5" name="Google Shape;75;p9"/>
            <p:cNvSpPr txBox="1"/>
            <p:nvPr/>
          </p:nvSpPr>
          <p:spPr>
            <a:xfrm>
              <a:off x="296036" y="281649"/>
              <a:ext cx="82276" cy="127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"/>
                <a:buFont typeface="Helvetica Neue"/>
                <a:buNone/>
              </a:pPr>
              <a:r>
                <a:rPr lang="en-US" sz="1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.</a:t>
              </a:r>
              <a:endParaRPr/>
            </a:p>
          </p:txBody>
        </p:sp>
      </p:grpSp>
      <p:sp>
        <p:nvSpPr>
          <p:cNvPr id="76" name="Google Shape;76;p9"/>
          <p:cNvSpPr/>
          <p:nvPr/>
        </p:nvSpPr>
        <p:spPr>
          <a:xfrm>
            <a:off x="547650" y="1031709"/>
            <a:ext cx="4791604" cy="47896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" name="Google Shape;77;p9"/>
          <p:cNvSpPr txBox="1">
            <a:spLocks noGrp="1"/>
          </p:cNvSpPr>
          <p:nvPr>
            <p:ph type="body" idx="1"/>
          </p:nvPr>
        </p:nvSpPr>
        <p:spPr>
          <a:xfrm rot="-8123112">
            <a:off x="2140107" y="-507500"/>
            <a:ext cx="27002" cy="34346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100"/>
              <a:buFont typeface="Helvetica Neue"/>
              <a:buNone/>
              <a:defRPr sz="100">
                <a:solidFill>
                  <a:schemeClr val="accent4"/>
                </a:solidFill>
              </a:defRPr>
            </a:lvl1pPr>
            <a:lvl2pPr marL="914400" lvl="1" indent="-2349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100"/>
              <a:buFont typeface="Helvetica Neue"/>
              <a:buChar char="•"/>
              <a:defRPr sz="100">
                <a:solidFill>
                  <a:schemeClr val="accent4"/>
                </a:solidFill>
              </a:defRPr>
            </a:lvl2pPr>
            <a:lvl3pPr marL="1371600" lvl="2" indent="-2349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100"/>
              <a:buFont typeface="Helvetica Neue"/>
              <a:buChar char="•"/>
              <a:defRPr sz="100">
                <a:solidFill>
                  <a:schemeClr val="accent4"/>
                </a:solidFill>
              </a:defRPr>
            </a:lvl3pPr>
            <a:lvl4pPr marL="1828800" lvl="3" indent="-2349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100"/>
              <a:buFont typeface="Helvetica Neue"/>
              <a:buChar char="•"/>
              <a:defRPr sz="100">
                <a:solidFill>
                  <a:schemeClr val="accent4"/>
                </a:solidFill>
              </a:defRPr>
            </a:lvl4pPr>
            <a:lvl5pPr marL="2286000" lvl="4" indent="-2349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100"/>
              <a:buFont typeface="Helvetica Neue"/>
              <a:buChar char="•"/>
              <a:defRPr sz="100">
                <a:solidFill>
                  <a:schemeClr val="accent4"/>
                </a:solidFill>
              </a:defRPr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body" idx="2"/>
          </p:nvPr>
        </p:nvSpPr>
        <p:spPr>
          <a:xfrm>
            <a:off x="1239391" y="3253423"/>
            <a:ext cx="6665222" cy="34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ldNum" idx="12"/>
          </p:nvPr>
        </p:nvSpPr>
        <p:spPr>
          <a:xfrm>
            <a:off x="8719822" y="6301573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 b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trenner 04">
  <p:cSld name="Kapiteltrenner 04">
    <p:bg>
      <p:bgPr>
        <a:solidFill>
          <a:schemeClr val="accent5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0" descr="Google Shape;85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9206" y="6150521"/>
            <a:ext cx="1887841" cy="2307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10"/>
          <p:cNvGrpSpPr/>
          <p:nvPr/>
        </p:nvGrpSpPr>
        <p:grpSpPr>
          <a:xfrm>
            <a:off x="7952077" y="6167708"/>
            <a:ext cx="674350" cy="690304"/>
            <a:chOff x="-1" y="-1"/>
            <a:chExt cx="674349" cy="690303"/>
          </a:xfrm>
        </p:grpSpPr>
        <p:sp>
          <p:nvSpPr>
            <p:cNvPr id="83" name="Google Shape;83;p10"/>
            <p:cNvSpPr/>
            <p:nvPr/>
          </p:nvSpPr>
          <p:spPr>
            <a:xfrm>
              <a:off x="-1" y="-1"/>
              <a:ext cx="674349" cy="69030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248" y="0"/>
                  </a:lnTo>
                  <a:lnTo>
                    <a:pt x="21600" y="0"/>
                  </a:lnTo>
                  <a:lnTo>
                    <a:pt x="352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"/>
                <a:buFont typeface="Helvetica Neue"/>
                <a:buNone/>
              </a:pPr>
              <a:endParaRPr sz="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4" name="Google Shape;84;p10"/>
            <p:cNvSpPr txBox="1"/>
            <p:nvPr/>
          </p:nvSpPr>
          <p:spPr>
            <a:xfrm>
              <a:off x="296036" y="281649"/>
              <a:ext cx="82276" cy="127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"/>
                <a:buFont typeface="Helvetica Neue"/>
                <a:buNone/>
              </a:pPr>
              <a:r>
                <a:rPr lang="en-US" sz="1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.</a:t>
              </a:r>
              <a:endParaRPr/>
            </a:p>
          </p:txBody>
        </p:sp>
      </p:grpSp>
      <p:sp>
        <p:nvSpPr>
          <p:cNvPr id="85" name="Google Shape;85;p10"/>
          <p:cNvSpPr/>
          <p:nvPr/>
        </p:nvSpPr>
        <p:spPr>
          <a:xfrm>
            <a:off x="0" y="5821383"/>
            <a:ext cx="9144000" cy="103662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" name="Google Shape;86;p10"/>
          <p:cNvSpPr/>
          <p:nvPr/>
        </p:nvSpPr>
        <p:spPr>
          <a:xfrm>
            <a:off x="3786339" y="1031709"/>
            <a:ext cx="4791603" cy="478967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" name="Google Shape;87;p10"/>
          <p:cNvSpPr txBox="1">
            <a:spLocks noGrp="1"/>
          </p:cNvSpPr>
          <p:nvPr>
            <p:ph type="body" idx="1"/>
          </p:nvPr>
        </p:nvSpPr>
        <p:spPr>
          <a:xfrm>
            <a:off x="1239391" y="3253423"/>
            <a:ext cx="6665222" cy="34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  <a:defRPr sz="2200" b="1">
                <a:solidFill>
                  <a:srgbClr val="FFFFFF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Char char="•"/>
              <a:defRPr sz="2200" b="1">
                <a:solidFill>
                  <a:srgbClr val="FFFFFF"/>
                </a:solidFill>
              </a:defRPr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Char char="•"/>
              <a:defRPr sz="2200" b="1">
                <a:solidFill>
                  <a:srgbClr val="FFFFFF"/>
                </a:solidFill>
              </a:defRPr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Char char="•"/>
              <a:defRPr sz="2200" b="1">
                <a:solidFill>
                  <a:srgbClr val="FFFFFF"/>
                </a:solidFill>
              </a:defRPr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Char char="•"/>
              <a:defRPr sz="2200" b="1">
                <a:solidFill>
                  <a:srgbClr val="FFFFFF"/>
                </a:solidFill>
              </a:defRPr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0"/>
          <p:cNvSpPr txBox="1">
            <a:spLocks noGrp="1"/>
          </p:cNvSpPr>
          <p:nvPr>
            <p:ph type="body" idx="2"/>
          </p:nvPr>
        </p:nvSpPr>
        <p:spPr>
          <a:xfrm rot="2676888">
            <a:off x="5361835" y="3392894"/>
            <a:ext cx="27002" cy="40631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pic>
        <p:nvPicPr>
          <p:cNvPr id="89" name="Google Shape;89;p10" descr="Google Shape;9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206" y="6150521"/>
            <a:ext cx="1887841" cy="23074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0"/>
          <p:cNvSpPr/>
          <p:nvPr/>
        </p:nvSpPr>
        <p:spPr>
          <a:xfrm>
            <a:off x="7952081" y="6169119"/>
            <a:ext cx="674346" cy="6888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lnTo>
                  <a:pt x="21169" y="0"/>
                </a:lnTo>
                <a:lnTo>
                  <a:pt x="21600" y="0"/>
                </a:lnTo>
                <a:lnTo>
                  <a:pt x="431" y="216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"/>
              <a:buFont typeface="Helvetica Neue"/>
              <a:buNone/>
            </a:pPr>
            <a:endParaRPr sz="100" b="0" i="0" u="none" strike="noStrike" cap="none">
              <a:solidFill>
                <a:schemeClr val="accent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p10"/>
          <p:cNvSpPr txBox="1">
            <a:spLocks noGrp="1"/>
          </p:cNvSpPr>
          <p:nvPr>
            <p:ph type="sldNum" idx="12"/>
          </p:nvPr>
        </p:nvSpPr>
        <p:spPr>
          <a:xfrm>
            <a:off x="8719822" y="6301573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trenner 05">
  <p:cSld name="Kapiteltrenner 05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1" descr="Google Shape;9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9206" y="6150521"/>
            <a:ext cx="1887841" cy="2307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" name="Google Shape;94;p11"/>
          <p:cNvGrpSpPr/>
          <p:nvPr/>
        </p:nvGrpSpPr>
        <p:grpSpPr>
          <a:xfrm>
            <a:off x="7952077" y="6167708"/>
            <a:ext cx="674350" cy="690304"/>
            <a:chOff x="-1" y="-1"/>
            <a:chExt cx="674349" cy="690303"/>
          </a:xfrm>
        </p:grpSpPr>
        <p:sp>
          <p:nvSpPr>
            <p:cNvPr id="95" name="Google Shape;95;p11"/>
            <p:cNvSpPr/>
            <p:nvPr/>
          </p:nvSpPr>
          <p:spPr>
            <a:xfrm>
              <a:off x="-1" y="-1"/>
              <a:ext cx="674349" cy="69030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248" y="0"/>
                  </a:lnTo>
                  <a:lnTo>
                    <a:pt x="21600" y="0"/>
                  </a:lnTo>
                  <a:lnTo>
                    <a:pt x="352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"/>
                <a:buFont typeface="Helvetica Neue"/>
                <a:buNone/>
              </a:pPr>
              <a:endParaRPr sz="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6" name="Google Shape;96;p11"/>
            <p:cNvSpPr txBox="1"/>
            <p:nvPr/>
          </p:nvSpPr>
          <p:spPr>
            <a:xfrm>
              <a:off x="296036" y="281649"/>
              <a:ext cx="82276" cy="127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"/>
                <a:buFont typeface="Helvetica Neue"/>
                <a:buNone/>
              </a:pPr>
              <a:r>
                <a:rPr lang="en-US" sz="1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.</a:t>
              </a:r>
              <a:endParaRPr/>
            </a:p>
          </p:txBody>
        </p:sp>
      </p:grpSp>
      <p:sp>
        <p:nvSpPr>
          <p:cNvPr id="97" name="Google Shape;97;p11"/>
          <p:cNvSpPr/>
          <p:nvPr/>
        </p:nvSpPr>
        <p:spPr>
          <a:xfrm>
            <a:off x="0" y="5839492"/>
            <a:ext cx="9144000" cy="10185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11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1"/>
          <p:cNvSpPr txBox="1">
            <a:spLocks noGrp="1"/>
          </p:cNvSpPr>
          <p:nvPr>
            <p:ph type="body" idx="1"/>
          </p:nvPr>
        </p:nvSpPr>
        <p:spPr>
          <a:xfrm rot="5400000">
            <a:off x="4072542" y="1404086"/>
            <a:ext cx="4815753" cy="35922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100"/>
              <a:buFont typeface="Helvetica Neue"/>
              <a:buNone/>
              <a:defRPr sz="100">
                <a:solidFill>
                  <a:schemeClr val="accent4"/>
                </a:solidFill>
              </a:defRPr>
            </a:lvl1pPr>
            <a:lvl2pPr marL="914400" lvl="1" indent="-2349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100"/>
              <a:buFont typeface="Helvetica Neue"/>
              <a:buChar char="•"/>
              <a:defRPr sz="100">
                <a:solidFill>
                  <a:schemeClr val="accent4"/>
                </a:solidFill>
              </a:defRPr>
            </a:lvl2pPr>
            <a:lvl3pPr marL="1371600" lvl="2" indent="-2349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100"/>
              <a:buFont typeface="Helvetica Neue"/>
              <a:buChar char="•"/>
              <a:defRPr sz="100">
                <a:solidFill>
                  <a:schemeClr val="accent4"/>
                </a:solidFill>
              </a:defRPr>
            </a:lvl3pPr>
            <a:lvl4pPr marL="1828800" lvl="3" indent="-2349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100"/>
              <a:buFont typeface="Helvetica Neue"/>
              <a:buChar char="•"/>
              <a:defRPr sz="100">
                <a:solidFill>
                  <a:schemeClr val="accent4"/>
                </a:solidFill>
              </a:defRPr>
            </a:lvl4pPr>
            <a:lvl5pPr marL="2286000" lvl="4" indent="-2349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4"/>
              </a:buClr>
              <a:buSzPts val="100"/>
              <a:buFont typeface="Helvetica Neue"/>
              <a:buChar char="•"/>
              <a:defRPr sz="100">
                <a:solidFill>
                  <a:schemeClr val="accent4"/>
                </a:solidFill>
              </a:defRPr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body" idx="3"/>
          </p:nvPr>
        </p:nvSpPr>
        <p:spPr>
          <a:xfrm>
            <a:off x="1239391" y="3027090"/>
            <a:ext cx="6665222" cy="34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4"/>
          </p:nvPr>
        </p:nvSpPr>
        <p:spPr>
          <a:xfrm>
            <a:off x="8283647" y="6507836"/>
            <a:ext cx="11213" cy="114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1"/>
          <p:cNvSpPr txBox="1">
            <a:spLocks noGrp="1"/>
          </p:cNvSpPr>
          <p:nvPr>
            <p:ph type="body" idx="5"/>
          </p:nvPr>
        </p:nvSpPr>
        <p:spPr>
          <a:xfrm rot="2676888">
            <a:off x="2684515" y="3392894"/>
            <a:ext cx="27002" cy="40631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1"/>
          <p:cNvSpPr txBox="1">
            <a:spLocks noGrp="1"/>
          </p:cNvSpPr>
          <p:nvPr>
            <p:ph type="body" idx="6"/>
          </p:nvPr>
        </p:nvSpPr>
        <p:spPr>
          <a:xfrm>
            <a:off x="223600" y="6111090"/>
            <a:ext cx="1991481" cy="31554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sldNum" idx="12"/>
          </p:nvPr>
        </p:nvSpPr>
        <p:spPr>
          <a:xfrm>
            <a:off x="8719822" y="6301573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">
  <p:cSld name="Nur Titel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2" descr="Google Shape;110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9206" y="6150521"/>
            <a:ext cx="1887841" cy="2307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12"/>
          <p:cNvGrpSpPr/>
          <p:nvPr/>
        </p:nvGrpSpPr>
        <p:grpSpPr>
          <a:xfrm>
            <a:off x="7952077" y="6167708"/>
            <a:ext cx="674350" cy="690304"/>
            <a:chOff x="-1" y="-1"/>
            <a:chExt cx="674349" cy="690303"/>
          </a:xfrm>
        </p:grpSpPr>
        <p:sp>
          <p:nvSpPr>
            <p:cNvPr id="108" name="Google Shape;108;p12"/>
            <p:cNvSpPr/>
            <p:nvPr/>
          </p:nvSpPr>
          <p:spPr>
            <a:xfrm>
              <a:off x="-1" y="-1"/>
              <a:ext cx="674349" cy="69030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248" y="0"/>
                  </a:lnTo>
                  <a:lnTo>
                    <a:pt x="21600" y="0"/>
                  </a:lnTo>
                  <a:lnTo>
                    <a:pt x="352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"/>
                <a:buFont typeface="Helvetica Neue"/>
                <a:buNone/>
              </a:pPr>
              <a:endParaRPr sz="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9" name="Google Shape;109;p12"/>
            <p:cNvSpPr txBox="1"/>
            <p:nvPr/>
          </p:nvSpPr>
          <p:spPr>
            <a:xfrm>
              <a:off x="296036" y="281649"/>
              <a:ext cx="82276" cy="127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"/>
                <a:buFont typeface="Helvetica Neue"/>
                <a:buNone/>
              </a:pPr>
              <a:r>
                <a:rPr lang="en-US" sz="1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.</a:t>
              </a:r>
              <a:endParaRPr/>
            </a:p>
          </p:txBody>
        </p:sp>
      </p:grpSp>
      <p:sp>
        <p:nvSpPr>
          <p:cNvPr id="110" name="Google Shape;110;p12"/>
          <p:cNvSpPr txBox="1">
            <a:spLocks noGrp="1"/>
          </p:cNvSpPr>
          <p:nvPr>
            <p:ph type="title"/>
          </p:nvPr>
        </p:nvSpPr>
        <p:spPr>
          <a:xfrm>
            <a:off x="284836" y="615312"/>
            <a:ext cx="8574326" cy="369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4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2"/>
          <p:cNvSpPr txBox="1">
            <a:spLocks noGrp="1"/>
          </p:cNvSpPr>
          <p:nvPr>
            <p:ph type="body" idx="1"/>
          </p:nvPr>
        </p:nvSpPr>
        <p:spPr>
          <a:xfrm>
            <a:off x="284840" y="5841036"/>
            <a:ext cx="509757" cy="76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sz="500"/>
            </a:lvl1pPr>
            <a:lvl2pPr marL="914400" lvl="1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Char char="•"/>
              <a:defRPr sz="500"/>
            </a:lvl2pPr>
            <a:lvl3pPr marL="1371600" lvl="2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Char char="•"/>
              <a:defRPr sz="500"/>
            </a:lvl3pPr>
            <a:lvl4pPr marL="1828800" lvl="3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Char char="•"/>
              <a:defRPr sz="500"/>
            </a:lvl4pPr>
            <a:lvl5pPr marL="2286000" lvl="4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Char char="•"/>
              <a:defRPr sz="500"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2"/>
          <p:cNvSpPr txBox="1">
            <a:spLocks noGrp="1"/>
          </p:cNvSpPr>
          <p:nvPr>
            <p:ph type="sldNum" idx="12"/>
          </p:nvPr>
        </p:nvSpPr>
        <p:spPr>
          <a:xfrm>
            <a:off x="8719822" y="6301573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 b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ei Inhalte">
  <p:cSld name="Zwei Inhalte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3" descr="Google Shape;118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9206" y="6150521"/>
            <a:ext cx="1887841" cy="2307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" name="Google Shape;115;p13"/>
          <p:cNvGrpSpPr/>
          <p:nvPr/>
        </p:nvGrpSpPr>
        <p:grpSpPr>
          <a:xfrm>
            <a:off x="7952077" y="6167708"/>
            <a:ext cx="674350" cy="690304"/>
            <a:chOff x="-1" y="-1"/>
            <a:chExt cx="674349" cy="690303"/>
          </a:xfrm>
        </p:grpSpPr>
        <p:sp>
          <p:nvSpPr>
            <p:cNvPr id="116" name="Google Shape;116;p13"/>
            <p:cNvSpPr/>
            <p:nvPr/>
          </p:nvSpPr>
          <p:spPr>
            <a:xfrm>
              <a:off x="-1" y="-1"/>
              <a:ext cx="674349" cy="69030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248" y="0"/>
                  </a:lnTo>
                  <a:lnTo>
                    <a:pt x="21600" y="0"/>
                  </a:lnTo>
                  <a:lnTo>
                    <a:pt x="352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"/>
                <a:buFont typeface="Helvetica Neue"/>
                <a:buNone/>
              </a:pPr>
              <a:endParaRPr sz="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7" name="Google Shape;117;p13"/>
            <p:cNvSpPr txBox="1"/>
            <p:nvPr/>
          </p:nvSpPr>
          <p:spPr>
            <a:xfrm>
              <a:off x="296036" y="281649"/>
              <a:ext cx="82276" cy="127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"/>
                <a:buFont typeface="Helvetica Neue"/>
                <a:buNone/>
              </a:pPr>
              <a:r>
                <a:rPr lang="en-US" sz="1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.</a:t>
              </a:r>
              <a:endParaRPr/>
            </a:p>
          </p:txBody>
        </p:sp>
      </p:grpSp>
      <p:sp>
        <p:nvSpPr>
          <p:cNvPr id="118" name="Google Shape;118;p13"/>
          <p:cNvSpPr txBox="1">
            <a:spLocks noGrp="1"/>
          </p:cNvSpPr>
          <p:nvPr>
            <p:ph type="title"/>
          </p:nvPr>
        </p:nvSpPr>
        <p:spPr>
          <a:xfrm>
            <a:off x="284836" y="615312"/>
            <a:ext cx="8574326" cy="34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4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body" idx="1"/>
          </p:nvPr>
        </p:nvSpPr>
        <p:spPr>
          <a:xfrm>
            <a:off x="284840" y="1855366"/>
            <a:ext cx="4147967" cy="387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•"/>
              <a:defRPr sz="1200"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body" idx="2"/>
          </p:nvPr>
        </p:nvSpPr>
        <p:spPr>
          <a:xfrm>
            <a:off x="284840" y="5841036"/>
            <a:ext cx="509756" cy="76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sldNum" idx="12"/>
          </p:nvPr>
        </p:nvSpPr>
        <p:spPr>
          <a:xfrm>
            <a:off x="8719822" y="6301573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 b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, Text und Bild 01">
  <p:cSld name="Titel, Text und Bild 0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4" descr="Google Shape;127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9206" y="6150521"/>
            <a:ext cx="1887841" cy="2307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p14"/>
          <p:cNvGrpSpPr/>
          <p:nvPr/>
        </p:nvGrpSpPr>
        <p:grpSpPr>
          <a:xfrm>
            <a:off x="7952077" y="6167708"/>
            <a:ext cx="674350" cy="690304"/>
            <a:chOff x="-1" y="-1"/>
            <a:chExt cx="674349" cy="690303"/>
          </a:xfrm>
        </p:grpSpPr>
        <p:sp>
          <p:nvSpPr>
            <p:cNvPr id="125" name="Google Shape;125;p14"/>
            <p:cNvSpPr/>
            <p:nvPr/>
          </p:nvSpPr>
          <p:spPr>
            <a:xfrm>
              <a:off x="-1" y="-1"/>
              <a:ext cx="674349" cy="69030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248" y="0"/>
                  </a:lnTo>
                  <a:lnTo>
                    <a:pt x="21600" y="0"/>
                  </a:lnTo>
                  <a:lnTo>
                    <a:pt x="352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"/>
                <a:buFont typeface="Helvetica Neue"/>
                <a:buNone/>
              </a:pPr>
              <a:endParaRPr sz="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6" name="Google Shape;126;p14"/>
            <p:cNvSpPr txBox="1"/>
            <p:nvPr/>
          </p:nvSpPr>
          <p:spPr>
            <a:xfrm>
              <a:off x="296036" y="281649"/>
              <a:ext cx="82276" cy="127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"/>
                <a:buFont typeface="Helvetica Neue"/>
                <a:buNone/>
              </a:pPr>
              <a:r>
                <a:rPr lang="en-US" sz="1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.</a:t>
              </a:r>
              <a:endParaRPr/>
            </a:p>
          </p:txBody>
        </p:sp>
      </p:grpSp>
      <p:sp>
        <p:nvSpPr>
          <p:cNvPr id="127" name="Google Shape;127;p14"/>
          <p:cNvSpPr txBox="1">
            <a:spLocks noGrp="1"/>
          </p:cNvSpPr>
          <p:nvPr>
            <p:ph type="title"/>
          </p:nvPr>
        </p:nvSpPr>
        <p:spPr>
          <a:xfrm>
            <a:off x="284836" y="615312"/>
            <a:ext cx="8574326" cy="369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4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4"/>
          <p:cNvSpPr txBox="1">
            <a:spLocks noGrp="1"/>
          </p:cNvSpPr>
          <p:nvPr>
            <p:ph type="body" idx="1"/>
          </p:nvPr>
        </p:nvSpPr>
        <p:spPr>
          <a:xfrm>
            <a:off x="284840" y="1855366"/>
            <a:ext cx="5317268" cy="387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•"/>
              <a:defRPr sz="1200"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14"/>
          <p:cNvSpPr>
            <a:spLocks noGrp="1"/>
          </p:cNvSpPr>
          <p:nvPr>
            <p:ph type="pic" idx="2"/>
          </p:nvPr>
        </p:nvSpPr>
        <p:spPr>
          <a:xfrm>
            <a:off x="5880501" y="1855366"/>
            <a:ext cx="3263505" cy="3877891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14"/>
          <p:cNvSpPr txBox="1">
            <a:spLocks noGrp="1"/>
          </p:cNvSpPr>
          <p:nvPr>
            <p:ph type="body" idx="3"/>
          </p:nvPr>
        </p:nvSpPr>
        <p:spPr>
          <a:xfrm>
            <a:off x="284840" y="5841036"/>
            <a:ext cx="509756" cy="76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14"/>
          <p:cNvSpPr txBox="1">
            <a:spLocks noGrp="1"/>
          </p:cNvSpPr>
          <p:nvPr>
            <p:ph type="sldNum" idx="12"/>
          </p:nvPr>
        </p:nvSpPr>
        <p:spPr>
          <a:xfrm>
            <a:off x="8719822" y="6301573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 b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, Text und Bild 02">
  <p:cSld name="Titel, Text und Bild 0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5" descr="Google Shape;137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9206" y="6150521"/>
            <a:ext cx="1887841" cy="2307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" name="Google Shape;134;p15"/>
          <p:cNvGrpSpPr/>
          <p:nvPr/>
        </p:nvGrpSpPr>
        <p:grpSpPr>
          <a:xfrm>
            <a:off x="7952077" y="6167708"/>
            <a:ext cx="674350" cy="690304"/>
            <a:chOff x="-1" y="-1"/>
            <a:chExt cx="674349" cy="690303"/>
          </a:xfrm>
        </p:grpSpPr>
        <p:sp>
          <p:nvSpPr>
            <p:cNvPr id="135" name="Google Shape;135;p15"/>
            <p:cNvSpPr/>
            <p:nvPr/>
          </p:nvSpPr>
          <p:spPr>
            <a:xfrm>
              <a:off x="-1" y="-1"/>
              <a:ext cx="674349" cy="69030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248" y="0"/>
                  </a:lnTo>
                  <a:lnTo>
                    <a:pt x="21600" y="0"/>
                  </a:lnTo>
                  <a:lnTo>
                    <a:pt x="352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"/>
                <a:buFont typeface="Helvetica Neue"/>
                <a:buNone/>
              </a:pPr>
              <a:endParaRPr sz="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6" name="Google Shape;136;p15"/>
            <p:cNvSpPr txBox="1"/>
            <p:nvPr/>
          </p:nvSpPr>
          <p:spPr>
            <a:xfrm>
              <a:off x="296036" y="281649"/>
              <a:ext cx="82276" cy="127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"/>
                <a:buFont typeface="Helvetica Neue"/>
                <a:buNone/>
              </a:pPr>
              <a:r>
                <a:rPr lang="en-US" sz="1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.</a:t>
              </a:r>
              <a:endParaRPr/>
            </a:p>
          </p:txBody>
        </p:sp>
      </p:grpSp>
      <p:sp>
        <p:nvSpPr>
          <p:cNvPr id="137" name="Google Shape;137;p15"/>
          <p:cNvSpPr txBox="1">
            <a:spLocks noGrp="1"/>
          </p:cNvSpPr>
          <p:nvPr>
            <p:ph type="title"/>
          </p:nvPr>
        </p:nvSpPr>
        <p:spPr>
          <a:xfrm>
            <a:off x="284836" y="615312"/>
            <a:ext cx="8574326" cy="369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4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body" idx="1"/>
          </p:nvPr>
        </p:nvSpPr>
        <p:spPr>
          <a:xfrm>
            <a:off x="284840" y="1855366"/>
            <a:ext cx="3925029" cy="387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•"/>
              <a:defRPr sz="1200"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15"/>
          <p:cNvSpPr>
            <a:spLocks noGrp="1"/>
          </p:cNvSpPr>
          <p:nvPr>
            <p:ph type="pic" idx="2"/>
          </p:nvPr>
        </p:nvSpPr>
        <p:spPr>
          <a:xfrm>
            <a:off x="4488260" y="1855366"/>
            <a:ext cx="4655745" cy="3877891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15"/>
          <p:cNvSpPr txBox="1">
            <a:spLocks noGrp="1"/>
          </p:cNvSpPr>
          <p:nvPr>
            <p:ph type="body" idx="3"/>
          </p:nvPr>
        </p:nvSpPr>
        <p:spPr>
          <a:xfrm>
            <a:off x="284840" y="5841036"/>
            <a:ext cx="509756" cy="76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15"/>
          <p:cNvSpPr txBox="1">
            <a:spLocks noGrp="1"/>
          </p:cNvSpPr>
          <p:nvPr>
            <p:ph type="sldNum" idx="12"/>
          </p:nvPr>
        </p:nvSpPr>
        <p:spPr>
          <a:xfrm>
            <a:off x="8719822" y="6301573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 b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ntergrundbild mit Text">
  <p:cSld name="Hintergrundbild mit Tex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6" descr="Google Shape;14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9206" y="6150521"/>
            <a:ext cx="1887841" cy="2307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16"/>
          <p:cNvGrpSpPr/>
          <p:nvPr/>
        </p:nvGrpSpPr>
        <p:grpSpPr>
          <a:xfrm>
            <a:off x="7952077" y="6167708"/>
            <a:ext cx="674350" cy="690304"/>
            <a:chOff x="-1" y="-1"/>
            <a:chExt cx="674349" cy="690303"/>
          </a:xfrm>
        </p:grpSpPr>
        <p:sp>
          <p:nvSpPr>
            <p:cNvPr id="145" name="Google Shape;145;p16"/>
            <p:cNvSpPr/>
            <p:nvPr/>
          </p:nvSpPr>
          <p:spPr>
            <a:xfrm>
              <a:off x="-1" y="-1"/>
              <a:ext cx="674349" cy="69030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248" y="0"/>
                  </a:lnTo>
                  <a:lnTo>
                    <a:pt x="21600" y="0"/>
                  </a:lnTo>
                  <a:lnTo>
                    <a:pt x="352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"/>
                <a:buFont typeface="Helvetica Neue"/>
                <a:buNone/>
              </a:pPr>
              <a:endParaRPr sz="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46" name="Google Shape;146;p16"/>
            <p:cNvSpPr txBox="1"/>
            <p:nvPr/>
          </p:nvSpPr>
          <p:spPr>
            <a:xfrm>
              <a:off x="296036" y="281649"/>
              <a:ext cx="82276" cy="127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"/>
                <a:buFont typeface="Helvetica Neue"/>
                <a:buNone/>
              </a:pPr>
              <a:r>
                <a:rPr lang="en-US" sz="1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.</a:t>
              </a:r>
              <a:endParaRPr/>
            </a:p>
          </p:txBody>
        </p:sp>
      </p:grpSp>
      <p:sp>
        <p:nvSpPr>
          <p:cNvPr id="147" name="Google Shape;147;p16"/>
          <p:cNvSpPr/>
          <p:nvPr/>
        </p:nvSpPr>
        <p:spPr>
          <a:xfrm>
            <a:off x="0" y="6071487"/>
            <a:ext cx="9144000" cy="7865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" name="Google Shape;148;p16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16"/>
          <p:cNvSpPr txBox="1">
            <a:spLocks noGrp="1"/>
          </p:cNvSpPr>
          <p:nvPr>
            <p:ph type="body" idx="1"/>
          </p:nvPr>
        </p:nvSpPr>
        <p:spPr>
          <a:xfrm>
            <a:off x="543729" y="1623600"/>
            <a:ext cx="3611815" cy="36108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00"/>
              <a:buFont typeface="Helvetica Neue"/>
              <a:buNone/>
              <a:defRPr sz="100">
                <a:solidFill>
                  <a:srgbClr val="FFFFFF"/>
                </a:solidFill>
              </a:defRPr>
            </a:lvl1pPr>
            <a:lvl2pPr marL="914400" lvl="1" indent="-2349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00"/>
              <a:buFont typeface="Helvetica Neue"/>
              <a:buChar char="•"/>
              <a:defRPr sz="100">
                <a:solidFill>
                  <a:srgbClr val="FFFFFF"/>
                </a:solidFill>
              </a:defRPr>
            </a:lvl2pPr>
            <a:lvl3pPr marL="1371600" lvl="2" indent="-2349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00"/>
              <a:buFont typeface="Helvetica Neue"/>
              <a:buChar char="•"/>
              <a:defRPr sz="100">
                <a:solidFill>
                  <a:srgbClr val="FFFFFF"/>
                </a:solidFill>
              </a:defRPr>
            </a:lvl3pPr>
            <a:lvl4pPr marL="1828800" lvl="3" indent="-2349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00"/>
              <a:buFont typeface="Helvetica Neue"/>
              <a:buChar char="•"/>
              <a:defRPr sz="100">
                <a:solidFill>
                  <a:srgbClr val="FFFFFF"/>
                </a:solidFill>
              </a:defRPr>
            </a:lvl4pPr>
            <a:lvl5pPr marL="2286000" lvl="4" indent="-2349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00"/>
              <a:buFont typeface="Helvetica Neue"/>
              <a:buChar char="•"/>
              <a:defRPr sz="100">
                <a:solidFill>
                  <a:srgbClr val="FFFFFF"/>
                </a:solidFill>
              </a:defRPr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body" idx="3"/>
          </p:nvPr>
        </p:nvSpPr>
        <p:spPr>
          <a:xfrm rot="-8123111">
            <a:off x="3327887" y="-507500"/>
            <a:ext cx="27002" cy="343466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6"/>
          <p:cNvSpPr txBox="1">
            <a:spLocks noGrp="1"/>
          </p:cNvSpPr>
          <p:nvPr>
            <p:ph type="body" idx="4"/>
          </p:nvPr>
        </p:nvSpPr>
        <p:spPr>
          <a:xfrm>
            <a:off x="1239391" y="3082750"/>
            <a:ext cx="2508748" cy="692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8109759" y="6169119"/>
            <a:ext cx="516667" cy="6888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600"/>
                </a:moveTo>
                <a:lnTo>
                  <a:pt x="21169" y="0"/>
                </a:lnTo>
                <a:lnTo>
                  <a:pt x="21600" y="0"/>
                </a:lnTo>
                <a:lnTo>
                  <a:pt x="431" y="216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"/>
              <a:buFont typeface="Helvetica Neue"/>
              <a:buNone/>
            </a:pPr>
            <a:endParaRPr sz="100" b="0" i="0" u="none" strike="noStrike" cap="none">
              <a:solidFill>
                <a:schemeClr val="accent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5"/>
          </p:nvPr>
        </p:nvSpPr>
        <p:spPr>
          <a:xfrm>
            <a:off x="8283647" y="6507836"/>
            <a:ext cx="11213" cy="114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body" idx="6"/>
          </p:nvPr>
        </p:nvSpPr>
        <p:spPr>
          <a:xfrm>
            <a:off x="223600" y="6111090"/>
            <a:ext cx="1991481" cy="31554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16"/>
          <p:cNvSpPr txBox="1">
            <a:spLocks noGrp="1"/>
          </p:cNvSpPr>
          <p:nvPr>
            <p:ph type="sldNum" idx="12"/>
          </p:nvPr>
        </p:nvSpPr>
        <p:spPr>
          <a:xfrm>
            <a:off x="8719822" y="6301573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  <a:defRPr sz="800" b="1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">
  <p:cSld name="Leer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 descr="Google Shape;161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9206" y="6150521"/>
            <a:ext cx="1887841" cy="2307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" name="Google Shape;158;p17"/>
          <p:cNvGrpSpPr/>
          <p:nvPr/>
        </p:nvGrpSpPr>
        <p:grpSpPr>
          <a:xfrm>
            <a:off x="7952077" y="6167708"/>
            <a:ext cx="674350" cy="690304"/>
            <a:chOff x="-1" y="-1"/>
            <a:chExt cx="674349" cy="690303"/>
          </a:xfrm>
        </p:grpSpPr>
        <p:sp>
          <p:nvSpPr>
            <p:cNvPr id="159" name="Google Shape;159;p17"/>
            <p:cNvSpPr/>
            <p:nvPr/>
          </p:nvSpPr>
          <p:spPr>
            <a:xfrm>
              <a:off x="-1" y="-1"/>
              <a:ext cx="674349" cy="69030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248" y="0"/>
                  </a:lnTo>
                  <a:lnTo>
                    <a:pt x="21600" y="0"/>
                  </a:lnTo>
                  <a:lnTo>
                    <a:pt x="352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"/>
                <a:buFont typeface="Helvetica Neue"/>
                <a:buNone/>
              </a:pPr>
              <a:endParaRPr sz="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0" name="Google Shape;160;p17"/>
            <p:cNvSpPr txBox="1"/>
            <p:nvPr/>
          </p:nvSpPr>
          <p:spPr>
            <a:xfrm>
              <a:off x="296036" y="281649"/>
              <a:ext cx="82276" cy="127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"/>
                <a:buFont typeface="Helvetica Neue"/>
                <a:buNone/>
              </a:pPr>
              <a:r>
                <a:rPr lang="en-US" sz="1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.</a:t>
              </a:r>
              <a:endParaRPr/>
            </a:p>
          </p:txBody>
        </p:sp>
      </p:grpSp>
      <p:sp>
        <p:nvSpPr>
          <p:cNvPr id="161" name="Google Shape;161;p17"/>
          <p:cNvSpPr txBox="1">
            <a:spLocks noGrp="1"/>
          </p:cNvSpPr>
          <p:nvPr>
            <p:ph type="body" idx="1"/>
          </p:nvPr>
        </p:nvSpPr>
        <p:spPr>
          <a:xfrm>
            <a:off x="284840" y="5841036"/>
            <a:ext cx="509757" cy="76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sz="500"/>
            </a:lvl1pPr>
            <a:lvl2pPr marL="914400" lvl="1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Char char="•"/>
              <a:defRPr sz="500"/>
            </a:lvl2pPr>
            <a:lvl3pPr marL="1371600" lvl="2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Char char="•"/>
              <a:defRPr sz="500"/>
            </a:lvl3pPr>
            <a:lvl4pPr marL="1828800" lvl="3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Char char="•"/>
              <a:defRPr sz="500"/>
            </a:lvl4pPr>
            <a:lvl5pPr marL="2286000" lvl="4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Char char="•"/>
              <a:defRPr sz="500"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sldNum" idx="12"/>
          </p:nvPr>
        </p:nvSpPr>
        <p:spPr>
          <a:xfrm>
            <a:off x="8719822" y="6301573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 b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669725" y="312538"/>
            <a:ext cx="7804549" cy="1518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669725" y="1835050"/>
            <a:ext cx="7804549" cy="442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ctr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18"/>
          <p:cNvSpPr txBox="1">
            <a:spLocks noGrp="1"/>
          </p:cNvSpPr>
          <p:nvPr>
            <p:ph type="sldNum" idx="12"/>
          </p:nvPr>
        </p:nvSpPr>
        <p:spPr>
          <a:xfrm>
            <a:off x="4431093" y="6376935"/>
            <a:ext cx="281814" cy="26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 2">
  <p:cSld name="Title &amp; Bullets 2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>
            <a:spLocks noGrp="1"/>
          </p:cNvSpPr>
          <p:nvPr>
            <p:ph type="title"/>
          </p:nvPr>
        </p:nvSpPr>
        <p:spPr>
          <a:xfrm>
            <a:off x="669725" y="312538"/>
            <a:ext cx="7804549" cy="1518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body" idx="1"/>
          </p:nvPr>
        </p:nvSpPr>
        <p:spPr>
          <a:xfrm>
            <a:off x="669725" y="1835050"/>
            <a:ext cx="7804549" cy="442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ctr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sldNum" idx="12"/>
          </p:nvPr>
        </p:nvSpPr>
        <p:spPr>
          <a:xfrm>
            <a:off x="4431093" y="6376935"/>
            <a:ext cx="281814" cy="26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69725" y="312538"/>
            <a:ext cx="7804549" cy="1518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 Light"/>
              <a:buNone/>
              <a:defRPr sz="5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 Light"/>
              <a:buNone/>
              <a:defRPr sz="5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 Light"/>
              <a:buNone/>
              <a:defRPr sz="5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 Light"/>
              <a:buNone/>
              <a:defRPr sz="5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 Light"/>
              <a:buNone/>
              <a:defRPr sz="5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 Light"/>
              <a:buNone/>
              <a:defRPr sz="5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 Light"/>
              <a:buNone/>
              <a:defRPr sz="5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 Light"/>
              <a:buNone/>
              <a:defRPr sz="5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 Light"/>
              <a:buNone/>
              <a:defRPr sz="5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69725" y="1835050"/>
            <a:ext cx="7804549" cy="442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ctr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431093" y="6376935"/>
            <a:ext cx="281814" cy="26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>
            <a:spLocks noGrp="1"/>
          </p:cNvSpPr>
          <p:nvPr>
            <p:ph type="ctrTitle" idx="4294967295"/>
          </p:nvPr>
        </p:nvSpPr>
        <p:spPr>
          <a:xfrm>
            <a:off x="1143000" y="2590800"/>
            <a:ext cx="5776278" cy="90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l">
              <a:buSzPts val="1400"/>
            </a:pPr>
            <a:r>
              <a:rPr lang="en-GB" sz="2500" b="1" dirty="0">
                <a:latin typeface="Times New Roman" pitchFamily="18" charset="0"/>
                <a:cs typeface="Times New Roman" pitchFamily="18" charset="0"/>
              </a:rPr>
              <a:t>Urban </a:t>
            </a:r>
            <a:r>
              <a:rPr lang="en-GB" sz="2500" b="1" dirty="0" smtClean="0">
                <a:latin typeface="Times New Roman" pitchFamily="18" charset="0"/>
                <a:cs typeface="Times New Roman" pitchFamily="18" charset="0"/>
              </a:rPr>
              <a:t>Shade:</a:t>
            </a:r>
            <a:br>
              <a:rPr lang="en-GB" sz="25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GB" sz="2500" b="1" dirty="0" smtClean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GB" sz="2500" b="1" dirty="0">
                <a:latin typeface="Times New Roman" pitchFamily="18" charset="0"/>
                <a:cs typeface="Times New Roman" pitchFamily="18" charset="0"/>
              </a:rPr>
              <a:t>Driven Tree Plantation</a:t>
            </a:r>
            <a:endParaRPr sz="2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6" name="Google Shape;176;p20"/>
          <p:cNvSpPr txBox="1">
            <a:spLocks noGrp="1"/>
          </p:cNvSpPr>
          <p:nvPr>
            <p:ph type="subTitle" idx="4294967295"/>
          </p:nvPr>
        </p:nvSpPr>
        <p:spPr>
          <a:xfrm>
            <a:off x="1216055" y="3812414"/>
            <a:ext cx="5776278" cy="90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lang="en-US" sz="2000" b="0" i="0" u="none" strike="noStrike" cap="none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Helvetica Neue"/>
              </a:rPr>
              <a:t>Nusrat</a:t>
            </a:r>
            <a:r>
              <a:rPr lang="en-US" sz="2000" b="0" i="0" u="none" strike="noStrike" cap="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Helvetica Neue"/>
              </a:rPr>
              <a:t>Farzana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7" name="Google Shape;177;p20"/>
          <p:cNvSpPr txBox="1">
            <a:spLocks noGrp="1"/>
          </p:cNvSpPr>
          <p:nvPr>
            <p:ph type="body" idx="2"/>
          </p:nvPr>
        </p:nvSpPr>
        <p:spPr>
          <a:xfrm rot="2676888">
            <a:off x="3361090" y="3840700"/>
            <a:ext cx="27002" cy="35399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>
            <a:spLocks noGrp="1"/>
          </p:cNvSpPr>
          <p:nvPr>
            <p:ph type="sldNum" idx="4294967295"/>
          </p:nvPr>
        </p:nvSpPr>
        <p:spPr>
          <a:xfrm>
            <a:off x="8719821" y="6301572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fld id="{00000000-1234-1234-1234-123412341234}" type="slidenum">
              <a:rPr lang="en-US" sz="800" b="1"/>
              <a:t>2</a:t>
            </a:fld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272138" y="428171"/>
            <a:ext cx="8643262" cy="6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itchFamily="34" charset="0"/>
              <a:buChar char="•"/>
            </a:pPr>
            <a:r>
              <a:rPr lang="en-US" sz="2000" b="1" i="0" u="none" strike="noStrike" cap="none" dirty="0" smtClean="0">
                <a:solidFill>
                  <a:srgbClr val="000000"/>
                </a:solidFill>
                <a:latin typeface="Times New Roman" pitchFamily="18" charset="0"/>
                <a:ea typeface="Helvetica Neue"/>
                <a:cs typeface="Times New Roman" pitchFamily="18" charset="0"/>
                <a:sym typeface="Helvetica Neue"/>
              </a:rPr>
              <a:t>Problem:</a:t>
            </a:r>
            <a:endParaRPr lang="en-US" sz="2000" b="1" dirty="0">
              <a:latin typeface="Times New Roman" pitchFamily="18" charset="0"/>
              <a:ea typeface="Helvetica Neue"/>
              <a:cs typeface="Times New Roman" pitchFamily="18" charset="0"/>
              <a:sym typeface="Helvetica Neue"/>
            </a:endParaRPr>
          </a:p>
          <a:p>
            <a:pPr lvl="2">
              <a:buSzPts val="2000"/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Helvetica Neue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➝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Helvetica Neue"/>
              </a:rPr>
              <a:t>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Urban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areas like Berlin are experiencing rising summer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temperature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due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to climate change and urbanization (concrete surfaces, limited greenery), 	causing discomfort, health risks, and reduced quality of life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  <a:p>
            <a:pPr marL="204534" marR="0" lvl="0" indent="-20453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endParaRPr lang="en-US" sz="1000" b="0" i="0" u="none" strike="noStrike" cap="none" dirty="0" smtClean="0">
              <a:solidFill>
                <a:srgbClr val="000000"/>
              </a:solidFill>
              <a:latin typeface="Times New Roman" pitchFamily="18" charset="0"/>
              <a:ea typeface="Helvetica Neue"/>
              <a:cs typeface="Times New Roman" pitchFamily="18" charset="0"/>
              <a:sym typeface="Helvetica Neue"/>
            </a:endParaRPr>
          </a:p>
          <a:p>
            <a:pPr marL="342900" marR="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itchFamily="34" charset="0"/>
              <a:buChar char="•"/>
            </a:pPr>
            <a:r>
              <a:rPr lang="en-US" sz="2000" b="1" dirty="0">
                <a:latin typeface="Times New Roman" pitchFamily="18" charset="0"/>
                <a:ea typeface="Helvetica Neue"/>
                <a:cs typeface="Times New Roman" pitchFamily="18" charset="0"/>
                <a:sym typeface="Helvetica Neue"/>
              </a:rPr>
              <a:t>W</a:t>
            </a:r>
            <a:r>
              <a:rPr lang="en-US" sz="2000" b="1" i="0" u="none" strike="noStrike" cap="none" dirty="0" smtClean="0">
                <a:solidFill>
                  <a:srgbClr val="000000"/>
                </a:solidFill>
                <a:latin typeface="Times New Roman" pitchFamily="18" charset="0"/>
                <a:ea typeface="Helvetica Neue"/>
                <a:cs typeface="Times New Roman" pitchFamily="18" charset="0"/>
                <a:sym typeface="Helvetica Neue"/>
              </a:rPr>
              <a:t>hy 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 pitchFamily="18" charset="0"/>
                <a:ea typeface="Helvetica Neue"/>
                <a:cs typeface="Times New Roman" pitchFamily="18" charset="0"/>
                <a:sym typeface="Helvetica Neue"/>
              </a:rPr>
              <a:t>this is </a:t>
            </a:r>
            <a:r>
              <a:rPr lang="en-US" sz="2000" b="1" i="0" u="none" strike="noStrike" cap="none" dirty="0" smtClean="0">
                <a:solidFill>
                  <a:srgbClr val="000000"/>
                </a:solidFill>
                <a:latin typeface="Times New Roman" pitchFamily="18" charset="0"/>
                <a:ea typeface="Helvetica Neue"/>
                <a:cs typeface="Times New Roman" pitchFamily="18" charset="0"/>
                <a:sym typeface="Helvetica Neue"/>
              </a:rPr>
              <a:t>important?</a:t>
            </a:r>
          </a:p>
          <a:p>
            <a:pPr lvl="6">
              <a:buSzPts val="2000"/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➝ Climate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adaptation: Cities need strategies to reduce heat exposure in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vulnerable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areas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➝ Urban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planning: Helps policymakers prioritize tree planting efforts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efficiently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rather than distributing resources uniformly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GB" sz="1000" dirty="0">
              <a:latin typeface="Times New Roman" pitchFamily="18" charset="0"/>
              <a:cs typeface="Times New Roman" pitchFamily="18" charset="0"/>
            </a:endParaRPr>
          </a:p>
          <a:p>
            <a:pPr marL="342900" lvl="5" indent="-342900">
              <a:buSzPts val="2000"/>
              <a:buFont typeface="Arial" pitchFamily="34" charset="0"/>
              <a:buChar char="•"/>
            </a:pP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State of art approaches:</a:t>
            </a:r>
          </a:p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➝ Remote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sensing / satellite imagery: Some projects use satellite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temperature data to detect urban heat islands.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➝ City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GIS data: Mapping parks, forests, and urban green areas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to 	estimate cooling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effects.</a:t>
            </a:r>
          </a:p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➝ Machine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learning / statistical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modelling: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Predicting areas prone to heat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stress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using temperature, land use, and population data.</a:t>
            </a:r>
          </a:p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➝ Urban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tree inventory: Some cities maintain databases of planted trees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and green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areas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1776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>
            <a:spLocks noGrp="1"/>
          </p:cNvSpPr>
          <p:nvPr>
            <p:ph type="sldNum" idx="4294967295"/>
          </p:nvPr>
        </p:nvSpPr>
        <p:spPr>
          <a:xfrm>
            <a:off x="8719821" y="6301572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fld id="{00000000-1234-1234-1234-123412341234}" type="slidenum">
              <a:rPr lang="en-US" sz="800" b="1"/>
              <a:t>3</a:t>
            </a:fld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232229" y="533400"/>
            <a:ext cx="8719462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Gaps:</a:t>
            </a:r>
          </a:p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➝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Helvetica Neue"/>
              </a:rPr>
              <a:t> 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Many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current studies provide city-wide averages, not fine-grained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neighbourhood-level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analysis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➝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Helvetica Neue"/>
              </a:rPr>
              <a:t>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Automated, data-driven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recommendations for tree plantation are limited.</a:t>
            </a:r>
            <a:endParaRPr lang="en-GB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GB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My project: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➝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Helvetica Neue"/>
              </a:rPr>
              <a:t>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Combines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multi-year temperature data, green coverage from OSM, and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interactive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mapping.</a:t>
            </a:r>
          </a:p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➝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Helvetica Neue"/>
              </a:rPr>
              <a:t>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Generates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a tree priority score per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neighbourhood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to highlight where tree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plantation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is most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needed.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  <a:p>
            <a:pPr marL="204534" lvl="5" indent="-204534">
              <a:buSzPts val="2000"/>
              <a:buFont typeface="Helvetica Neue"/>
              <a:buChar char="•"/>
            </a:pPr>
            <a:endParaRPr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496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>
            <a:spLocks noGrp="1"/>
          </p:cNvSpPr>
          <p:nvPr>
            <p:ph type="sldNum" idx="4294967295"/>
          </p:nvPr>
        </p:nvSpPr>
        <p:spPr>
          <a:xfrm>
            <a:off x="8719821" y="6301572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fld id="{00000000-1234-1234-1234-123412341234}" type="slidenum">
              <a:rPr lang="en-US" sz="800" b="1"/>
              <a:t>4</a:t>
            </a:fld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152399" y="457200"/>
            <a:ext cx="8716287" cy="6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Data Set :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  <a:sym typeface="Helvetica Neue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➝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Helvetica Neue"/>
              </a:rPr>
              <a:t>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Temperature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data: Extracted from Google Earth Engine (GEE) using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the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MODIS Land Surface Temperature dataset, </a:t>
            </a:r>
            <a:endParaRPr lang="en-GB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covering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Berlin for June–August, last 5 years (2020–2024).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  <a:sym typeface="Helvetica Neue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➝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Helvetica Neue"/>
              </a:rPr>
              <a:t>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Urban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area boundaries: Used </a:t>
            </a:r>
            <a:r>
              <a:rPr lang="en-GB" sz="2000" dirty="0" err="1">
                <a:latin typeface="Times New Roman" pitchFamily="18" charset="0"/>
                <a:cs typeface="Times New Roman" pitchFamily="18" charset="0"/>
              </a:rPr>
              <a:t>OpenStreetMap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 (OSM) data via </a:t>
            </a:r>
            <a:r>
              <a:rPr lang="en-GB" sz="2000" dirty="0" err="1">
                <a:latin typeface="Times New Roman" pitchFamily="18" charset="0"/>
                <a:cs typeface="Times New Roman" pitchFamily="18" charset="0"/>
              </a:rPr>
              <a:t>OSMnx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which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provides polygons for </a:t>
            </a:r>
            <a:r>
              <a:rPr lang="en-GB" sz="2000" dirty="0" err="1">
                <a:latin typeface="Times New Roman" pitchFamily="18" charset="0"/>
                <a:cs typeface="Times New Roman" pitchFamily="18" charset="0"/>
              </a:rPr>
              <a:t>neighborhoods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/areas in Berlin.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  <a:sym typeface="Helvetica Neue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➝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Helvetica Neue"/>
              </a:rPr>
              <a:t>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Green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coverage: Extracted from OSM by filtering polygons tagged as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parks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, forests, gardens, and other green areas.</a:t>
            </a:r>
          </a:p>
          <a:p>
            <a:pPr marL="204534" marR="0" lvl="0" indent="-20453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endParaRPr lang="en-US" sz="1000" i="0" u="none" strike="noStrike" cap="none" dirty="0" smtClean="0">
              <a:solidFill>
                <a:srgbClr val="000000"/>
              </a:solidFill>
              <a:latin typeface="Times New Roman" pitchFamily="18" charset="0"/>
              <a:ea typeface="Helvetica Neue"/>
              <a:cs typeface="Times New Roman" pitchFamily="18" charset="0"/>
              <a:sym typeface="Helvetica Neue"/>
            </a:endParaRPr>
          </a:p>
          <a:p>
            <a:pPr marL="204534" marR="0" lvl="0" indent="-20453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endParaRPr lang="en-US" sz="1000" i="0" u="none" strike="noStrike" cap="none" dirty="0" smtClean="0">
              <a:solidFill>
                <a:srgbClr val="000000"/>
              </a:solidFill>
              <a:latin typeface="Times New Roman" pitchFamily="18" charset="0"/>
              <a:ea typeface="Helvetica Neue"/>
              <a:cs typeface="Times New Roman" pitchFamily="18" charset="0"/>
              <a:sym typeface="Helvetica Neue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Data Quality :</a:t>
            </a:r>
            <a:endParaRPr lang="en-GB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Strengths</a:t>
            </a:r>
            <a:r>
              <a:rPr lang="en-GB" sz="20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➝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Helvetica Neue"/>
              </a:rPr>
              <a:t>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High-resolution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spatial data for Berlin.</a:t>
            </a:r>
          </a:p>
          <a:p>
            <a:pPr lvl="1"/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➝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Helvetica Neue"/>
              </a:rPr>
              <a:t>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Multi-year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temperature allows robust averaging.</a:t>
            </a:r>
          </a:p>
          <a:p>
            <a:pPr lvl="1"/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➝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Helvetica Neue"/>
              </a:rPr>
              <a:t>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OSM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green areas are up-to-date and detailed in urban environments.</a:t>
            </a:r>
          </a:p>
          <a:p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sz="2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000" b="1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endParaRPr lang="en-GB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>
            <a:spLocks noGrp="1"/>
          </p:cNvSpPr>
          <p:nvPr>
            <p:ph type="sldNum" idx="4294967295"/>
          </p:nvPr>
        </p:nvSpPr>
        <p:spPr>
          <a:xfrm>
            <a:off x="8719821" y="6301572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fld id="{00000000-1234-1234-1234-123412341234}" type="slidenum">
              <a:rPr lang="en-US" sz="800" b="1"/>
              <a:t>5</a:t>
            </a:fld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170543" y="533400"/>
            <a:ext cx="8763000" cy="548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GB" sz="2000" b="1" dirty="0">
                <a:latin typeface="Times New Roman" pitchFamily="18" charset="0"/>
                <a:cs typeface="Times New Roman" pitchFamily="18" charset="0"/>
              </a:rPr>
              <a:t>Limitations:</a:t>
            </a:r>
          </a:p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➝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Helvetica Neue"/>
              </a:rPr>
              <a:t>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Green coverage uses available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land-use/OSM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data and may not capture: 	canopy density, tree height/shading and private green areas.</a:t>
            </a:r>
          </a:p>
          <a:p>
            <a:pPr lvl="1"/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➝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Helvetica Neue"/>
              </a:rPr>
              <a:t>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Historical microclimate measurements (air temperature at street level).</a:t>
            </a:r>
          </a:p>
          <a:p>
            <a:pPr lvl="1"/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➝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Helvetica Neue"/>
              </a:rPr>
              <a:t>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Precise population density per neighbourhood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identify heat-vulnerable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populations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GB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Arial" pitchFamily="34" charset="0"/>
              <a:buChar char="•"/>
            </a:pP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Missing Data Sources:</a:t>
            </a:r>
            <a:endParaRPr lang="en-GB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➝ Population data: Berlin Open Data portals.</a:t>
            </a:r>
          </a:p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➝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  <a:sym typeface="Helvetica Neue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Helvetica Neue"/>
              </a:rPr>
              <a:t>Air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Helvetica Neue"/>
              </a:rPr>
              <a:t>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Helvetica Neue"/>
              </a:rPr>
              <a:t>emperature: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Street-level temperature sensors or local weather station.</a:t>
            </a:r>
          </a:p>
          <a:p>
            <a:pPr lvl="1"/>
            <a:endParaRPr lang="en-GB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896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>
            <a:spLocks noGrp="1"/>
          </p:cNvSpPr>
          <p:nvPr>
            <p:ph type="title"/>
          </p:nvPr>
        </p:nvSpPr>
        <p:spPr>
          <a:xfrm>
            <a:off x="237667" y="457200"/>
            <a:ext cx="8574324" cy="369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2500" b="1" dirty="0">
                <a:sym typeface="Helvetica Neue"/>
              </a:rPr>
              <a:t>Methods</a:t>
            </a:r>
            <a:endParaRPr sz="2500" dirty="0"/>
          </a:p>
        </p:txBody>
      </p:sp>
      <p:sp>
        <p:nvSpPr>
          <p:cNvPr id="197" name="Google Shape;197;p23"/>
          <p:cNvSpPr txBox="1">
            <a:spLocks noGrp="1"/>
          </p:cNvSpPr>
          <p:nvPr>
            <p:ph type="sldNum" idx="4294967295"/>
          </p:nvPr>
        </p:nvSpPr>
        <p:spPr>
          <a:xfrm>
            <a:off x="8719821" y="6301572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fld id="{00000000-1234-1234-1234-123412341234}" type="slidenum">
              <a:rPr lang="en-US" sz="800" b="1"/>
              <a:t>6</a:t>
            </a:fld>
            <a:endParaRPr/>
          </a:p>
        </p:txBody>
      </p:sp>
      <p:sp>
        <p:nvSpPr>
          <p:cNvPr id="198" name="Google Shape;198;p23"/>
          <p:cNvSpPr txBox="1"/>
          <p:nvPr/>
        </p:nvSpPr>
        <p:spPr>
          <a:xfrm>
            <a:off x="304800" y="1066800"/>
            <a:ext cx="8630562" cy="518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Exploratory </a:t>
            </a:r>
            <a:r>
              <a:rPr lang="en-GB" sz="2000" b="1" dirty="0">
                <a:latin typeface="Times New Roman" pitchFamily="18" charset="0"/>
                <a:cs typeface="Times New Roman" pitchFamily="18" charset="0"/>
              </a:rPr>
              <a:t>Data Analysis (EDA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) :</a:t>
            </a:r>
            <a:endParaRPr lang="en-GB" sz="2000" b="1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➝ MODIS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Land Surface Temperature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via Google Earth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Engine of 	2020-2024 (June-August) and computed mean.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➝ berlin administrative boundaries taken from open street dynamically</a:t>
            </a:r>
          </a:p>
          <a:p>
            <a:pPr lvl="1"/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via overpass API</a:t>
            </a:r>
          </a:p>
          <a:p>
            <a:pPr lvl="1"/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➝ Green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area data from OSM using OSM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polygons:</a:t>
            </a:r>
          </a:p>
          <a:p>
            <a:pPr lvl="1"/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- parks  		- forests 		- gardens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➝ Processed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and cleaned both datasets (area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names,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geometry fixes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lvl="1"/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➝ Calculated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green coverage for each Berlin area (ratio 0–1).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➝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Identified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hotspots with low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greenery.</a:t>
            </a:r>
          </a:p>
          <a:p>
            <a:pPr lvl="1"/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➝ Merged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green coverage with temperature values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➝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Computed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statistical relationships and Created exploratory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plots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>
            <a:spLocks noGrp="1"/>
          </p:cNvSpPr>
          <p:nvPr>
            <p:ph type="title"/>
          </p:nvPr>
        </p:nvSpPr>
        <p:spPr>
          <a:xfrm>
            <a:off x="284838" y="304800"/>
            <a:ext cx="8574324" cy="369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2500" b="1" dirty="0">
                <a:sym typeface="Helvetica Neue"/>
              </a:rPr>
              <a:t>Methods</a:t>
            </a:r>
            <a:endParaRPr sz="2500" dirty="0"/>
          </a:p>
        </p:txBody>
      </p:sp>
      <p:sp>
        <p:nvSpPr>
          <p:cNvPr id="197" name="Google Shape;197;p23"/>
          <p:cNvSpPr txBox="1">
            <a:spLocks noGrp="1"/>
          </p:cNvSpPr>
          <p:nvPr>
            <p:ph type="sldNum" idx="4294967295"/>
          </p:nvPr>
        </p:nvSpPr>
        <p:spPr>
          <a:xfrm>
            <a:off x="8719821" y="6301572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fld id="{00000000-1234-1234-1234-123412341234}" type="slidenum">
              <a:rPr lang="en-US" sz="800" b="1"/>
              <a:t>7</a:t>
            </a:fld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8" name="Google Shape;198;p23"/>
              <p:cNvSpPr txBox="1"/>
              <p:nvPr/>
            </p:nvSpPr>
            <p:spPr>
              <a:xfrm>
                <a:off x="281209" y="762000"/>
                <a:ext cx="8706762" cy="56387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342900" indent="-342900">
                  <a:buFont typeface="Arial" pitchFamily="34" charset="0"/>
                  <a:buChar char="•"/>
                </a:pPr>
                <a:r>
                  <a:rPr lang="en-GB" sz="2000" b="1" dirty="0" smtClean="0">
                    <a:latin typeface="Times New Roman" pitchFamily="18" charset="0"/>
                    <a:cs typeface="Times New Roman" pitchFamily="18" charset="0"/>
                  </a:rPr>
                  <a:t>Demonstrator :</a:t>
                </a:r>
                <a:endParaRPr lang="en-GB" sz="2000" b="1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GB" sz="2000" dirty="0" smtClean="0">
                    <a:latin typeface="Times New Roman" pitchFamily="18" charset="0"/>
                    <a:cs typeface="Times New Roman" pitchFamily="18" charset="0"/>
                  </a:rPr>
                  <a:t>	➝ </a:t>
                </a:r>
                <a:r>
                  <a:rPr lang="en-GB" sz="2000" dirty="0">
                    <a:latin typeface="Times New Roman" pitchFamily="18" charset="0"/>
                    <a:cs typeface="Times New Roman" pitchFamily="18" charset="0"/>
                  </a:rPr>
                  <a:t>Built </a:t>
                </a:r>
                <a:r>
                  <a:rPr lang="en-GB" sz="2000" dirty="0">
                    <a:latin typeface="Times New Roman" pitchFamily="18" charset="0"/>
                    <a:cs typeface="Times New Roman" pitchFamily="18" charset="0"/>
                  </a:rPr>
                  <a:t>a tree priority score combining temperature and green coverage</a:t>
                </a:r>
                <a:r>
                  <a:rPr lang="en-GB" sz="2000" dirty="0" smtClean="0">
                    <a:latin typeface="Times New Roman" pitchFamily="18" charset="0"/>
                    <a:cs typeface="Times New Roman" pitchFamily="18" charset="0"/>
                  </a:rPr>
                  <a:t>.</a:t>
                </a:r>
                <a:endParaRPr lang="en-GB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GB" sz="2000" dirty="0" smtClean="0">
                    <a:latin typeface="Times New Roman" pitchFamily="18" charset="0"/>
                    <a:cs typeface="Times New Roman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500">
                        <a:latin typeface="Cambria Math"/>
                        <a:cs typeface="Times New Roman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2500" b="0" i="0" smtClean="0">
                        <a:latin typeface="Cambria Math"/>
                        <a:cs typeface="Times New Roman" pitchFamily="18" charset="0"/>
                      </a:rPr>
                      <m:t>PP</m:t>
                    </m:r>
                    <m:r>
                      <a:rPr lang="en-US" sz="2500" b="0" i="1" smtClean="0">
                        <a:latin typeface="Cambria Math"/>
                        <a:cs typeface="Times New Roman" pitchFamily="18" charset="0"/>
                      </a:rPr>
                      <m:t>𝐼</m:t>
                    </m:r>
                    <m:r>
                      <a:rPr lang="en-US" sz="2500" b="0" i="1" baseline="-25000" smtClean="0">
                        <a:latin typeface="Cambria Math"/>
                        <a:cs typeface="Times New Roman" pitchFamily="18" charset="0"/>
                      </a:rPr>
                      <m:t>𝑖</m:t>
                    </m:r>
                    <m:r>
                      <a:rPr lang="en-US" sz="25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lang="en-GB" sz="2500" i="1" smtClean="0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GB" sz="2500" i="1" smtClean="0">
                                <a:latin typeface="Cambria Math"/>
                                <a:cs typeface="Times New Roman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2500" i="1" smtClean="0">
                                    <a:latin typeface="Cambria Math"/>
                                    <a:cs typeface="Times New Roman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5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𝑇</m:t>
                                </m:r>
                                <m:r>
                                  <a:rPr lang="en-US" sz="2500" b="0" i="1" baseline="-25000" smtClean="0">
                                    <a:latin typeface="Cambria Math"/>
                                    <a:cs typeface="Times New Roman" pitchFamily="18" charset="0"/>
                                  </a:rPr>
                                  <m:t>𝑖</m:t>
                                </m:r>
                                <m:r>
                                  <a:rPr lang="en-US" sz="25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−</m:t>
                                </m:r>
                                <m:r>
                                  <a:rPr lang="en-US" sz="25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𝑇𝑚</m:t>
                                </m:r>
                                <m:r>
                                  <a:rPr lang="en-US" sz="2500" b="0" i="1" baseline="-25000" smtClean="0">
                                    <a:latin typeface="Cambria Math"/>
                                    <a:cs typeface="Times New Roman" pitchFamily="18" charset="0"/>
                                  </a:rPr>
                                  <m:t>𝑒𝑑𝑖𝑎𝑛</m:t>
                                </m:r>
                              </m:num>
                              <m:den>
                                <m:r>
                                  <a:rPr lang="en-US" sz="25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𝑇</m:t>
                                </m:r>
                                <m:r>
                                  <a:rPr lang="en-US" sz="2500" b="0" i="1" baseline="-25000" smtClean="0">
                                    <a:latin typeface="Cambria Math"/>
                                    <a:cs typeface="Times New Roman" pitchFamily="18" charset="0"/>
                                  </a:rPr>
                                  <m:t>𝑚𝑎𝑥</m:t>
                                </m:r>
                                <m:r>
                                  <a:rPr lang="en-US" sz="25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−</m:t>
                                </m:r>
                                <m:r>
                                  <a:rPr lang="en-US" sz="25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𝑇𝑚</m:t>
                                </m:r>
                                <m:r>
                                  <a:rPr lang="en-US" sz="2500" b="0" i="1" baseline="-25000" smtClean="0">
                                    <a:latin typeface="Cambria Math"/>
                                    <a:cs typeface="Times New Roman" pitchFamily="18" charset="0"/>
                                  </a:rPr>
                                  <m:t>𝑒𝑎𝑑𝑖𝑎𝑛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GB" sz="250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+</m:t>
                        </m:r>
                      </m:sub>
                    </m:sSub>
                    <m:r>
                      <a:rPr lang="en-GB" sz="250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×</m:t>
                    </m:r>
                    <m:d>
                      <m:dPr>
                        <m:ctrlPr>
                          <a:rPr lang="en-GB" sz="250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500" i="1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1−</m:t>
                        </m:r>
                        <m:r>
                          <a:rPr lang="en-US" sz="2500" i="1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𝐺𝑖</m:t>
                        </m:r>
                      </m:e>
                    </m:d>
                  </m:oMath>
                </a14:m>
                <a:endParaRPr lang="en-GB" sz="25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		Where:</a:t>
                </a:r>
              </a:p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			T</a:t>
                </a:r>
                <a:r>
                  <a:rPr lang="en-US" sz="2000" baseline="-25000" dirty="0" smtClean="0"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​ = average temperature of area </a:t>
                </a:r>
                <a:r>
                  <a:rPr lang="en-US" sz="2000" i="1" dirty="0" smtClean="0">
                    <a:latin typeface="Times New Roman" pitchFamily="18" charset="0"/>
                    <a:cs typeface="Times New Roman" pitchFamily="18" charset="0"/>
                  </a:rPr>
                  <a:t>I</a:t>
                </a:r>
              </a:p>
              <a:p>
                <a:r>
                  <a:rPr lang="en-GB" sz="2000" dirty="0" smtClean="0">
                    <a:latin typeface="Times New Roman" pitchFamily="18" charset="0"/>
                    <a:cs typeface="Times New Roman" pitchFamily="18" charset="0"/>
                  </a:rPr>
                  <a:t>			</a:t>
                </a:r>
                <a:r>
                  <a:rPr lang="en-GB" sz="2000" dirty="0" err="1" smtClean="0">
                    <a:latin typeface="Times New Roman" pitchFamily="18" charset="0"/>
                    <a:cs typeface="Times New Roman" pitchFamily="18" charset="0"/>
                  </a:rPr>
                  <a:t>T</a:t>
                </a:r>
                <a:r>
                  <a:rPr lang="en-GB" sz="2000" baseline="-25000" dirty="0" err="1" smtClean="0">
                    <a:latin typeface="Times New Roman" pitchFamily="18" charset="0"/>
                    <a:cs typeface="Times New Roman" pitchFamily="18" charset="0"/>
                  </a:rPr>
                  <a:t>median</a:t>
                </a:r>
                <a:r>
                  <a:rPr lang="en-GB" sz="2000" baseline="-25000" dirty="0">
                    <a:latin typeface="Times New Roman" pitchFamily="18" charset="0"/>
                    <a:cs typeface="Times New Roman" pitchFamily="18" charset="0"/>
                  </a:rPr>
                  <a:t>​ </a:t>
                </a:r>
                <a:r>
                  <a:rPr lang="en-GB" sz="2000" dirty="0">
                    <a:latin typeface="Times New Roman" pitchFamily="18" charset="0"/>
                    <a:cs typeface="Times New Roman" pitchFamily="18" charset="0"/>
                  </a:rPr>
                  <a:t>= median temperature across all Berlin </a:t>
                </a:r>
                <a:r>
                  <a:rPr lang="en-GB" sz="2000" dirty="0" smtClean="0">
                    <a:latin typeface="Times New Roman" pitchFamily="18" charset="0"/>
                    <a:cs typeface="Times New Roman" pitchFamily="18" charset="0"/>
                  </a:rPr>
                  <a:t>areas</a:t>
                </a:r>
              </a:p>
              <a:p>
                <a:r>
                  <a:rPr lang="en-GB" sz="2000" dirty="0" smtClean="0">
                    <a:latin typeface="Times New Roman" pitchFamily="18" charset="0"/>
                    <a:cs typeface="Times New Roman" pitchFamily="18" charset="0"/>
                  </a:rPr>
                  <a:t>			</a:t>
                </a:r>
                <a:r>
                  <a:rPr lang="en-GB" sz="2000" dirty="0" err="1" smtClean="0">
                    <a:latin typeface="Times New Roman" pitchFamily="18" charset="0"/>
                    <a:cs typeface="Times New Roman" pitchFamily="18" charset="0"/>
                  </a:rPr>
                  <a:t>T</a:t>
                </a:r>
                <a:r>
                  <a:rPr lang="en-GB" sz="2000" baseline="-25000" dirty="0" err="1" smtClean="0">
                    <a:latin typeface="Times New Roman" pitchFamily="18" charset="0"/>
                    <a:cs typeface="Times New Roman" pitchFamily="18" charset="0"/>
                  </a:rPr>
                  <a:t>max</a:t>
                </a:r>
                <a:r>
                  <a:rPr lang="en-GB" sz="2000" dirty="0">
                    <a:latin typeface="Times New Roman" pitchFamily="18" charset="0"/>
                    <a:cs typeface="Times New Roman" pitchFamily="18" charset="0"/>
                  </a:rPr>
                  <a:t>​ = maximum temperature in the </a:t>
                </a:r>
                <a:r>
                  <a:rPr lang="en-GB" sz="2000" dirty="0" smtClean="0">
                    <a:latin typeface="Times New Roman" pitchFamily="18" charset="0"/>
                    <a:cs typeface="Times New Roman" pitchFamily="18" charset="0"/>
                  </a:rPr>
                  <a:t>city</a:t>
                </a:r>
              </a:p>
              <a:p>
                <a:r>
                  <a:rPr lang="en-GB" sz="2000" dirty="0" smtClean="0">
                    <a:latin typeface="Times New Roman" pitchFamily="18" charset="0"/>
                    <a:cs typeface="Times New Roman" pitchFamily="18" charset="0"/>
                  </a:rPr>
                  <a:t>			</a:t>
                </a:r>
                <a:r>
                  <a:rPr lang="en-GB" sz="2000" dirty="0" err="1" smtClean="0">
                    <a:latin typeface="Times New Roman" pitchFamily="18" charset="0"/>
                    <a:cs typeface="Times New Roman" pitchFamily="18" charset="0"/>
                  </a:rPr>
                  <a:t>G</a:t>
                </a:r>
                <a:r>
                  <a:rPr lang="en-GB" sz="2000" baseline="-25000" dirty="0" err="1" smtClean="0"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GB" sz="2000" dirty="0">
                    <a:latin typeface="Times New Roman" pitchFamily="18" charset="0"/>
                    <a:cs typeface="Times New Roman" pitchFamily="18" charset="0"/>
                  </a:rPr>
                  <a:t>​ = green-area fraction (0–1) for area </a:t>
                </a:r>
                <a:r>
                  <a:rPr lang="en-GB" sz="2000" i="1" dirty="0" smtClean="0">
                    <a:latin typeface="Times New Roman" pitchFamily="18" charset="0"/>
                    <a:cs typeface="Times New Roman" pitchFamily="18" charset="0"/>
                  </a:rPr>
                  <a:t>I</a:t>
                </a:r>
              </a:p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			(x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)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+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​=max(x,0) ensures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: </a:t>
                </a:r>
              </a:p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	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		</a:t>
                </a:r>
                <a:r>
                  <a:rPr lang="en-GB" sz="2000" dirty="0" smtClean="0">
                    <a:latin typeface="Times New Roman" pitchFamily="18" charset="0"/>
                    <a:cs typeface="Times New Roman" pitchFamily="18" charset="0"/>
                  </a:rPr>
                  <a:t>Areas </a:t>
                </a:r>
                <a:r>
                  <a:rPr lang="en-GB" sz="2000" dirty="0">
                    <a:latin typeface="Times New Roman" pitchFamily="18" charset="0"/>
                    <a:cs typeface="Times New Roman" pitchFamily="18" charset="0"/>
                  </a:rPr>
                  <a:t>cooler than the median automatically get TPPI = </a:t>
                </a:r>
                <a:r>
                  <a:rPr lang="en-GB" sz="2000" dirty="0" smtClean="0">
                    <a:latin typeface="Times New Roman" pitchFamily="18" charset="0"/>
                    <a:cs typeface="Times New Roman" pitchFamily="18" charset="0"/>
                  </a:rPr>
                  <a:t>0</a:t>
                </a:r>
              </a:p>
              <a:p>
                <a:endParaRPr lang="en-GB" sz="10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GB" sz="2000" dirty="0" smtClean="0">
                    <a:latin typeface="Times New Roman" pitchFamily="18" charset="0"/>
                    <a:cs typeface="Times New Roman" pitchFamily="18" charset="0"/>
                  </a:rPr>
                  <a:t>	➝ Created  </a:t>
                </a:r>
                <a:r>
                  <a:rPr lang="en-GB" sz="2000" dirty="0">
                    <a:latin typeface="Times New Roman" pitchFamily="18" charset="0"/>
                    <a:cs typeface="Times New Roman" pitchFamily="18" charset="0"/>
                  </a:rPr>
                  <a:t>interactive map with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GeoPandas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+ 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Folium.</a:t>
                </a:r>
                <a:endParaRPr lang="en-GB" sz="20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GB" sz="20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GB" sz="10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buFont typeface="Arial" pitchFamily="34" charset="0"/>
                  <a:buChar char="•"/>
                </a:pP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ML </a:t>
                </a:r>
                <a:r>
                  <a:rPr lang="en-US" sz="2000" b="1" dirty="0" smtClean="0">
                    <a:latin typeface="Times New Roman" pitchFamily="18" charset="0"/>
                    <a:cs typeface="Times New Roman" pitchFamily="18" charset="0"/>
                  </a:rPr>
                  <a:t>Modeling 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r>
                  <a:rPr lang="en-GB" sz="2000" b="1" dirty="0" smtClean="0">
                    <a:latin typeface="Times New Roman" pitchFamily="18" charset="0"/>
                    <a:cs typeface="Times New Roman" pitchFamily="18" charset="0"/>
                  </a:rPr>
                  <a:t> Future possibilities :</a:t>
                </a:r>
                <a:endParaRPr lang="en-GB" sz="2000" b="1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GB" sz="2000" dirty="0" smtClean="0">
                    <a:latin typeface="Times New Roman" pitchFamily="18" charset="0"/>
                    <a:cs typeface="Times New Roman" pitchFamily="18" charset="0"/>
                  </a:rPr>
                  <a:t>	➝ Prediction of temperatures based on green coverage and building density.</a:t>
                </a:r>
              </a:p>
              <a:p>
                <a:r>
                  <a:rPr lang="en-GB" sz="2000" dirty="0" smtClean="0">
                    <a:latin typeface="Times New Roman" pitchFamily="18" charset="0"/>
                    <a:cs typeface="Times New Roman" pitchFamily="18" charset="0"/>
                  </a:rPr>
                  <a:t>	</a:t>
                </a:r>
                <a:r>
                  <a:rPr lang="en-GB" sz="2000" dirty="0">
                    <a:latin typeface="Times New Roman" pitchFamily="18" charset="0"/>
                    <a:cs typeface="Times New Roman" pitchFamily="18" charset="0"/>
                  </a:rPr>
                  <a:t> ➝ </a:t>
                </a:r>
                <a:r>
                  <a:rPr lang="en-GB" sz="2000" dirty="0" smtClean="0">
                    <a:latin typeface="Times New Roman" pitchFamily="18" charset="0"/>
                    <a:cs typeface="Times New Roman" pitchFamily="18" charset="0"/>
                  </a:rPr>
                  <a:t>Estimating </a:t>
                </a:r>
                <a:r>
                  <a:rPr lang="en-GB" sz="2000" dirty="0">
                    <a:latin typeface="Times New Roman" pitchFamily="18" charset="0"/>
                    <a:cs typeface="Times New Roman" pitchFamily="18" charset="0"/>
                  </a:rPr>
                  <a:t>cooling impact of planting X% more trees in each area</a:t>
                </a:r>
                <a:r>
                  <a:rPr lang="en-GB" sz="2000" dirty="0" smtClean="0">
                    <a:latin typeface="Times New Roman" pitchFamily="18" charset="0"/>
                    <a:cs typeface="Times New Roman" pitchFamily="18" charset="0"/>
                  </a:rPr>
                  <a:t>.</a:t>
                </a:r>
                <a:endParaRPr lang="en-GB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198" name="Google Shape;198;p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09" y="762000"/>
                <a:ext cx="8706762" cy="5638799"/>
              </a:xfrm>
              <a:prstGeom prst="rect">
                <a:avLst/>
              </a:prstGeom>
              <a:blipFill rotWithShape="1">
                <a:blip r:embed="rId3"/>
                <a:stretch>
                  <a:fillRect l="-1751" t="-1297" r="-23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3675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>
            <a:spLocks noGrp="1"/>
          </p:cNvSpPr>
          <p:nvPr>
            <p:ph type="title"/>
          </p:nvPr>
        </p:nvSpPr>
        <p:spPr>
          <a:xfrm>
            <a:off x="284838" y="615312"/>
            <a:ext cx="8574324" cy="369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2500" b="1" dirty="0" smtClean="0">
                <a:latin typeface="Times New Roman" pitchFamily="18" charset="0"/>
                <a:cs typeface="Times New Roman" pitchFamily="18" charset="0"/>
                <a:sym typeface="Helvetica Neue"/>
              </a:rPr>
              <a:t>Results : Dashboard</a:t>
            </a:r>
            <a:endParaRPr sz="2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" name="Google Shape;204;p24"/>
          <p:cNvSpPr txBox="1">
            <a:spLocks noGrp="1"/>
          </p:cNvSpPr>
          <p:nvPr>
            <p:ph type="sldNum" idx="4294967295"/>
          </p:nvPr>
        </p:nvSpPr>
        <p:spPr>
          <a:xfrm>
            <a:off x="8719821" y="6301572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fld id="{00000000-1234-1234-1234-123412341234}" type="slidenum">
              <a:rPr lang="en-US" sz="800" b="1"/>
              <a:t>8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752599"/>
            <a:ext cx="8276768" cy="38862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>
            <a:spLocks noGrp="1"/>
          </p:cNvSpPr>
          <p:nvPr>
            <p:ph type="title"/>
          </p:nvPr>
        </p:nvSpPr>
        <p:spPr>
          <a:xfrm>
            <a:off x="268514" y="533400"/>
            <a:ext cx="8574324" cy="369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2500" b="1" dirty="0" smtClean="0">
                <a:latin typeface="Times New Roman" pitchFamily="18" charset="0"/>
                <a:cs typeface="Times New Roman" pitchFamily="18" charset="0"/>
                <a:sym typeface="Helvetica Neue"/>
              </a:rPr>
              <a:t>Result 01: Heat Map</a:t>
            </a:r>
            <a:endParaRPr sz="2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" name="Google Shape;204;p24"/>
          <p:cNvSpPr txBox="1">
            <a:spLocks noGrp="1"/>
          </p:cNvSpPr>
          <p:nvPr>
            <p:ph type="sldNum" idx="4294967295"/>
          </p:nvPr>
        </p:nvSpPr>
        <p:spPr>
          <a:xfrm>
            <a:off x="8719821" y="6301572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fld id="{00000000-1234-1234-1234-123412341234}" type="slidenum">
              <a:rPr lang="en-US" sz="800" b="1"/>
              <a:t>9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03647"/>
            <a:ext cx="2517814" cy="47085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111896"/>
            <a:ext cx="5791200" cy="489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>
            <a:spLocks noGrp="1"/>
          </p:cNvSpPr>
          <p:nvPr>
            <p:ph type="title"/>
          </p:nvPr>
        </p:nvSpPr>
        <p:spPr>
          <a:xfrm>
            <a:off x="304800" y="533400"/>
            <a:ext cx="8574324" cy="369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2500" b="1" dirty="0" smtClean="0">
                <a:latin typeface="Times New Roman" pitchFamily="18" charset="0"/>
                <a:cs typeface="Times New Roman" pitchFamily="18" charset="0"/>
                <a:sym typeface="Helvetica Neue"/>
              </a:rPr>
              <a:t>Result 02 : Greenery Map</a:t>
            </a:r>
            <a:endParaRPr sz="2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" name="Google Shape;204;p24"/>
          <p:cNvSpPr txBox="1">
            <a:spLocks noGrp="1"/>
          </p:cNvSpPr>
          <p:nvPr>
            <p:ph type="sldNum" idx="4294967295"/>
          </p:nvPr>
        </p:nvSpPr>
        <p:spPr>
          <a:xfrm>
            <a:off x="8719821" y="6301572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fld id="{00000000-1234-1234-1234-123412341234}" type="slidenum">
              <a:rPr lang="en-US" sz="800" b="1"/>
              <a:t>10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295398"/>
            <a:ext cx="6316300" cy="514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454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>
            <a:spLocks noGrp="1"/>
          </p:cNvSpPr>
          <p:nvPr>
            <p:ph type="title"/>
          </p:nvPr>
        </p:nvSpPr>
        <p:spPr>
          <a:xfrm>
            <a:off x="225022" y="381000"/>
            <a:ext cx="8574324" cy="369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2500" b="1" dirty="0" smtClean="0">
                <a:latin typeface="Times New Roman" pitchFamily="18" charset="0"/>
                <a:cs typeface="Times New Roman" pitchFamily="18" charset="0"/>
                <a:sym typeface="Helvetica Neue"/>
              </a:rPr>
              <a:t>Result 03 : Tree Plantation Priority Map</a:t>
            </a:r>
            <a:endParaRPr sz="2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" name="Google Shape;204;p24"/>
          <p:cNvSpPr txBox="1">
            <a:spLocks noGrp="1"/>
          </p:cNvSpPr>
          <p:nvPr>
            <p:ph type="sldNum" idx="4294967295"/>
          </p:nvPr>
        </p:nvSpPr>
        <p:spPr>
          <a:xfrm>
            <a:off x="8719821" y="6301572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fld id="{00000000-1234-1234-1234-123412341234}" type="slidenum">
              <a:rPr lang="en-US" sz="800" b="1"/>
              <a:t>11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68" y="1066800"/>
            <a:ext cx="8044432" cy="512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188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>
            <a:spLocks noGrp="1"/>
          </p:cNvSpPr>
          <p:nvPr>
            <p:ph type="title"/>
          </p:nvPr>
        </p:nvSpPr>
        <p:spPr>
          <a:xfrm>
            <a:off x="304800" y="762000"/>
            <a:ext cx="8574324" cy="369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Problem 01</a:t>
            </a:r>
            <a:r>
              <a:rPr lang="en-US" sz="2500" b="1" dirty="0" smtClean="0">
                <a:latin typeface="Times New Roman" pitchFamily="18" charset="0"/>
                <a:cs typeface="Times New Roman" pitchFamily="18" charset="0"/>
                <a:sym typeface="Helvetica Neue"/>
              </a:rPr>
              <a:t>: Low Temperature with Low Greenery</a:t>
            </a:r>
            <a:endParaRPr sz="2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" name="Google Shape;204;p24"/>
          <p:cNvSpPr txBox="1">
            <a:spLocks noGrp="1"/>
          </p:cNvSpPr>
          <p:nvPr>
            <p:ph type="sldNum" idx="4294967295"/>
          </p:nvPr>
        </p:nvSpPr>
        <p:spPr>
          <a:xfrm>
            <a:off x="8719821" y="6301572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fld id="{00000000-1234-1234-1234-123412341234}" type="slidenum">
              <a:rPr lang="en-US" sz="800" b="1"/>
              <a:t>12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621971"/>
            <a:ext cx="7915705" cy="416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529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>
            <a:spLocks noGrp="1"/>
          </p:cNvSpPr>
          <p:nvPr>
            <p:ph type="title"/>
          </p:nvPr>
        </p:nvSpPr>
        <p:spPr>
          <a:xfrm>
            <a:off x="351967" y="762000"/>
            <a:ext cx="8574324" cy="369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Problem 02</a:t>
            </a:r>
            <a:r>
              <a:rPr lang="en-US" sz="2500" b="1" dirty="0" smtClean="0">
                <a:latin typeface="Times New Roman" pitchFamily="18" charset="0"/>
                <a:cs typeface="Times New Roman" pitchFamily="18" charset="0"/>
                <a:sym typeface="Helvetica Neue"/>
              </a:rPr>
              <a:t>: Area Boarder</a:t>
            </a:r>
            <a:endParaRPr sz="2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" name="Google Shape;204;p24"/>
          <p:cNvSpPr txBox="1">
            <a:spLocks noGrp="1"/>
          </p:cNvSpPr>
          <p:nvPr>
            <p:ph type="sldNum" idx="4294967295"/>
          </p:nvPr>
        </p:nvSpPr>
        <p:spPr>
          <a:xfrm>
            <a:off x="8719821" y="6301572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fld id="{00000000-1234-1234-1234-123412341234}" type="slidenum">
              <a:rPr lang="en-US" sz="800" b="1"/>
              <a:t>13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229" y="1828799"/>
            <a:ext cx="6781800" cy="401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8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>
            <a:spLocks noGrp="1"/>
          </p:cNvSpPr>
          <p:nvPr>
            <p:ph type="title"/>
          </p:nvPr>
        </p:nvSpPr>
        <p:spPr>
          <a:xfrm>
            <a:off x="248552" y="621266"/>
            <a:ext cx="8574324" cy="369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2500" b="1" dirty="0">
                <a:latin typeface="Times New Roman" pitchFamily="18" charset="0"/>
                <a:cs typeface="Times New Roman" pitchFamily="18" charset="0"/>
                <a:sym typeface="Helvetica Neue"/>
              </a:rPr>
              <a:t>Discussion</a:t>
            </a:r>
            <a:endParaRPr sz="2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1" name="Google Shape;211;p25"/>
          <p:cNvSpPr txBox="1">
            <a:spLocks noGrp="1"/>
          </p:cNvSpPr>
          <p:nvPr>
            <p:ph type="sldNum" idx="4294967295"/>
          </p:nvPr>
        </p:nvSpPr>
        <p:spPr>
          <a:xfrm>
            <a:off x="8719821" y="6301572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fld id="{00000000-1234-1234-1234-123412341234}" type="slidenum">
              <a:rPr lang="en-US" sz="800" b="1"/>
              <a:t>14</a:t>
            </a:fld>
            <a:endParaRPr/>
          </a:p>
        </p:txBody>
      </p:sp>
      <p:sp>
        <p:nvSpPr>
          <p:cNvPr id="212" name="Google Shape;212;p25"/>
          <p:cNvSpPr txBox="1"/>
          <p:nvPr/>
        </p:nvSpPr>
        <p:spPr>
          <a:xfrm>
            <a:off x="152400" y="1371600"/>
            <a:ext cx="8706762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GB" sz="2000" b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tatistical Findings :</a:t>
            </a:r>
          </a:p>
          <a:p>
            <a:pPr marL="342900" indent="-342900">
              <a:buFont typeface="Arial" pitchFamily="34" charset="0"/>
              <a:buChar char="•"/>
            </a:pPr>
            <a:endParaRPr lang="en-GB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lvl="6">
              <a:buSzPct val="100000"/>
            </a:pP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	1. T-Test: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t-test compares the mean temperature of two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groups: low-	green areas </a:t>
            </a:r>
            <a:r>
              <a:rPr lang="en-GB" sz="2000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 high-green areas.</a:t>
            </a:r>
          </a:p>
          <a:p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➝ Goal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: To check whether green coverage leads to significantly different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temperatures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➝ Result: </a:t>
            </a:r>
            <a:r>
              <a:rPr lang="en-GB" sz="2000" i="1" dirty="0" smtClean="0">
                <a:latin typeface="Times New Roman" pitchFamily="18" charset="0"/>
                <a:cs typeface="Times New Roman" pitchFamily="18" charset="0"/>
              </a:rPr>
              <a:t>t </a:t>
            </a:r>
            <a:r>
              <a:rPr lang="en-GB" sz="2000" i="1" dirty="0">
                <a:latin typeface="Times New Roman" pitchFamily="18" charset="0"/>
                <a:cs typeface="Times New Roman" pitchFamily="18" charset="0"/>
              </a:rPr>
              <a:t>= 4.256, p = 0.000050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➝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very low p-value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shows that low-green areas are significantly hotter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than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high-green areas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endParaRPr lang="en-GB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	2. Spearman </a:t>
            </a:r>
            <a:r>
              <a:rPr lang="en-GB" sz="2000" b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orrelation :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Spearman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correlation measures the monotonic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relationship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between two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variables: green coverage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temperature.</a:t>
            </a:r>
          </a:p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does not assume linearity, so it works well for environmental data.</a:t>
            </a:r>
          </a:p>
          <a:p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➝ Result: </a:t>
            </a:r>
            <a:r>
              <a:rPr lang="en-GB" sz="2000" i="1" dirty="0" smtClean="0">
                <a:latin typeface="Times New Roman" pitchFamily="18" charset="0"/>
                <a:cs typeface="Times New Roman" pitchFamily="18" charset="0"/>
              </a:rPr>
              <a:t>ρ </a:t>
            </a:r>
            <a:r>
              <a:rPr lang="en-GB" sz="2000" i="1" dirty="0">
                <a:latin typeface="Times New Roman" pitchFamily="18" charset="0"/>
                <a:cs typeface="Times New Roman" pitchFamily="18" charset="0"/>
              </a:rPr>
              <a:t>= –0.380, p = </a:t>
            </a:r>
            <a:r>
              <a:rPr lang="en-GB" sz="2000" i="1" dirty="0" smtClean="0">
                <a:latin typeface="Times New Roman" pitchFamily="18" charset="0"/>
                <a:cs typeface="Times New Roman" pitchFamily="18" charset="0"/>
              </a:rPr>
              <a:t>0.000030</a:t>
            </a:r>
            <a:endParaRPr lang="en-GB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➝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There is a moderate negative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correlation: more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green coverage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is</a:t>
            </a:r>
          </a:p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associated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with lower temperature.</a:t>
            </a:r>
          </a:p>
          <a:p>
            <a:pPr marL="342900" indent="-342900">
              <a:buFont typeface="Arial" pitchFamily="34" charset="0"/>
              <a:buChar char="•"/>
            </a:pPr>
            <a:endParaRPr lang="en-GB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>
            <a:spLocks noGrp="1"/>
          </p:cNvSpPr>
          <p:nvPr>
            <p:ph type="sldNum" idx="4294967295"/>
          </p:nvPr>
        </p:nvSpPr>
        <p:spPr>
          <a:xfrm>
            <a:off x="8719821" y="6301572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fld id="{00000000-1234-1234-1234-123412341234}" type="slidenum">
              <a:rPr lang="en-US" sz="800" b="1"/>
              <a:t>15</a:t>
            </a:fld>
            <a:endParaRPr/>
          </a:p>
        </p:txBody>
      </p:sp>
      <p:sp>
        <p:nvSpPr>
          <p:cNvPr id="212" name="Google Shape;212;p25"/>
          <p:cNvSpPr txBox="1"/>
          <p:nvPr/>
        </p:nvSpPr>
        <p:spPr>
          <a:xfrm>
            <a:off x="192315" y="5791200"/>
            <a:ext cx="870676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GB" sz="1500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GB" sz="1500" dirty="0" smtClean="0">
                <a:latin typeface="Times New Roman" pitchFamily="18" charset="0"/>
                <a:cs typeface="Times New Roman" pitchFamily="18" charset="0"/>
              </a:rPr>
              <a:t>isual </a:t>
            </a:r>
            <a:r>
              <a:rPr lang="en-GB" sz="1500" dirty="0">
                <a:latin typeface="Times New Roman" pitchFamily="18" charset="0"/>
                <a:cs typeface="Times New Roman" pitchFamily="18" charset="0"/>
              </a:rPr>
              <a:t>representation of the </a:t>
            </a:r>
            <a:r>
              <a:rPr lang="en-GB" sz="1500" b="1" dirty="0">
                <a:latin typeface="Times New Roman" pitchFamily="18" charset="0"/>
                <a:cs typeface="Times New Roman" pitchFamily="18" charset="0"/>
              </a:rPr>
              <a:t>T-test</a:t>
            </a:r>
            <a:r>
              <a:rPr lang="en-GB" sz="1500" dirty="0">
                <a:latin typeface="Times New Roman" pitchFamily="18" charset="0"/>
                <a:cs typeface="Times New Roman" pitchFamily="18" charset="0"/>
              </a:rPr>
              <a:t>, showing whether areas with less greenery are significantly </a:t>
            </a:r>
            <a:r>
              <a:rPr lang="en-GB" sz="1500" dirty="0" smtClean="0">
                <a:latin typeface="Times New Roman" pitchFamily="18" charset="0"/>
                <a:cs typeface="Times New Roman" pitchFamily="18" charset="0"/>
              </a:rPr>
              <a:t>hotter</a:t>
            </a:r>
            <a:endParaRPr lang="en-GB" sz="15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67" y="647700"/>
            <a:ext cx="69342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24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>
            <a:spLocks noGrp="1"/>
          </p:cNvSpPr>
          <p:nvPr>
            <p:ph type="sldNum" idx="4294967295"/>
          </p:nvPr>
        </p:nvSpPr>
        <p:spPr>
          <a:xfrm>
            <a:off x="8719821" y="6301572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fld id="{00000000-1234-1234-1234-123412341234}" type="slidenum">
              <a:rPr lang="en-US" sz="800" b="1"/>
              <a:t>16</a:t>
            </a:fld>
            <a:endParaRPr/>
          </a:p>
        </p:txBody>
      </p:sp>
      <p:sp>
        <p:nvSpPr>
          <p:cNvPr id="212" name="Google Shape;212;p25"/>
          <p:cNvSpPr txBox="1"/>
          <p:nvPr/>
        </p:nvSpPr>
        <p:spPr>
          <a:xfrm>
            <a:off x="192315" y="5638800"/>
            <a:ext cx="870676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GB" sz="1500" dirty="0" smtClean="0">
                <a:latin typeface="Times New Roman" pitchFamily="18" charset="0"/>
                <a:cs typeface="Times New Roman" pitchFamily="18" charset="0"/>
              </a:rPr>
              <a:t>Visualize the </a:t>
            </a:r>
            <a:r>
              <a:rPr lang="en-GB" sz="1500" dirty="0">
                <a:latin typeface="Times New Roman" pitchFamily="18" charset="0"/>
                <a:cs typeface="Times New Roman" pitchFamily="18" charset="0"/>
              </a:rPr>
              <a:t>relationship between green coverage </a:t>
            </a:r>
            <a:r>
              <a:rPr lang="en-GB" sz="15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GB" sz="1500" dirty="0">
                <a:latin typeface="Times New Roman" pitchFamily="18" charset="0"/>
                <a:cs typeface="Times New Roman" pitchFamily="18" charset="0"/>
              </a:rPr>
              <a:t>mean temperature</a:t>
            </a:r>
            <a:r>
              <a:rPr lang="en-GB" sz="1600" dirty="0"/>
              <a:t>.</a:t>
            </a:r>
            <a:endParaRPr lang="en-GB" sz="15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GB" sz="1500" dirty="0" smtClean="0">
                <a:latin typeface="Times New Roman" pitchFamily="18" charset="0"/>
                <a:cs typeface="Times New Roman" pitchFamily="18" charset="0"/>
              </a:rPr>
              <a:t>corresponds to </a:t>
            </a:r>
            <a:r>
              <a:rPr lang="en-GB" sz="1500" dirty="0">
                <a:latin typeface="Times New Roman" pitchFamily="18" charset="0"/>
                <a:cs typeface="Times New Roman" pitchFamily="18" charset="0"/>
              </a:rPr>
              <a:t>Spearman correlation value (rho = –0.38), demonstrating a negative relationship between vegetation and heat.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573" y="239488"/>
            <a:ext cx="7254246" cy="518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08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>
            <a:spLocks noGrp="1"/>
          </p:cNvSpPr>
          <p:nvPr>
            <p:ph type="sldNum" idx="4294967295"/>
          </p:nvPr>
        </p:nvSpPr>
        <p:spPr>
          <a:xfrm>
            <a:off x="8719821" y="6301572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fld id="{00000000-1234-1234-1234-123412341234}" type="slidenum">
              <a:rPr lang="en-US" sz="800" b="1"/>
              <a:t>17</a:t>
            </a:fld>
            <a:endParaRPr/>
          </a:p>
        </p:txBody>
      </p:sp>
      <p:sp>
        <p:nvSpPr>
          <p:cNvPr id="212" name="Google Shape;212;p25"/>
          <p:cNvSpPr txBox="1"/>
          <p:nvPr/>
        </p:nvSpPr>
        <p:spPr>
          <a:xfrm>
            <a:off x="221344" y="5810250"/>
            <a:ext cx="870676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GB" sz="1500" dirty="0" smtClean="0">
                <a:latin typeface="Times New Roman" pitchFamily="18" charset="0"/>
                <a:cs typeface="Times New Roman" pitchFamily="18" charset="0"/>
              </a:rPr>
              <a:t>Visualize the </a:t>
            </a:r>
            <a:r>
              <a:rPr lang="en-GB" sz="1500" dirty="0">
                <a:latin typeface="Times New Roman" pitchFamily="18" charset="0"/>
                <a:cs typeface="Times New Roman" pitchFamily="18" charset="0"/>
              </a:rPr>
              <a:t>spread and distribution </a:t>
            </a:r>
            <a:r>
              <a:rPr lang="en-GB" sz="1500" dirty="0" smtClean="0">
                <a:latin typeface="Times New Roman" pitchFamily="18" charset="0"/>
                <a:cs typeface="Times New Roman" pitchFamily="18" charset="0"/>
              </a:rPr>
              <a:t>differences</a:t>
            </a:r>
            <a:endParaRPr lang="en-GB" sz="15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38" y="460829"/>
            <a:ext cx="7147573" cy="5105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901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>
            <a:spLocks noGrp="1"/>
          </p:cNvSpPr>
          <p:nvPr>
            <p:ph type="sldNum" idx="4294967295"/>
          </p:nvPr>
        </p:nvSpPr>
        <p:spPr>
          <a:xfrm>
            <a:off x="8719821" y="6301572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fld id="{00000000-1234-1234-1234-123412341234}" type="slidenum">
              <a:rPr lang="en-US" sz="800" b="1"/>
              <a:t>18</a:t>
            </a:fld>
            <a:endParaRPr/>
          </a:p>
        </p:txBody>
      </p:sp>
      <p:sp>
        <p:nvSpPr>
          <p:cNvPr id="212" name="Google Shape;212;p25"/>
          <p:cNvSpPr txBox="1"/>
          <p:nvPr/>
        </p:nvSpPr>
        <p:spPr>
          <a:xfrm>
            <a:off x="284838" y="533400"/>
            <a:ext cx="8630562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Interpretation:</a:t>
            </a:r>
            <a:endParaRPr lang="en-GB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➝ Both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tests strongly support the conclusion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that: </a:t>
            </a:r>
          </a:p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Green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areas help reduce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urban heat.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➝ Statistical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evidence confirms that differences in temperature are not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random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, but linked to vegetation distribution.</a:t>
            </a:r>
          </a:p>
          <a:p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➝ This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justifies using green coverage as a basis for tree-planting priority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mapping.</a:t>
            </a:r>
          </a:p>
          <a:p>
            <a:endParaRPr lang="en-GB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000" b="1" dirty="0">
                <a:latin typeface="Times New Roman" pitchFamily="18" charset="0"/>
                <a:cs typeface="Times New Roman" pitchFamily="18" charset="0"/>
              </a:rPr>
              <a:t>Implications for Urban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Planning:</a:t>
            </a:r>
            <a:endParaRPr lang="en-GB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➝ Areas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with low green coverage could benefit most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from:</a:t>
            </a:r>
          </a:p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tree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planting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programs, expanding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parks or green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corridors and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cooling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urban design (shade structures, permeable surfaces)</a:t>
            </a:r>
          </a:p>
          <a:p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➝ Results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can guide priority mapping, helping decision-makers allocate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resources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more effectively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226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>
            <a:spLocks noGrp="1"/>
          </p:cNvSpPr>
          <p:nvPr>
            <p:ph type="title"/>
          </p:nvPr>
        </p:nvSpPr>
        <p:spPr>
          <a:xfrm>
            <a:off x="371019" y="762000"/>
            <a:ext cx="8574324" cy="369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References</a:t>
            </a:r>
            <a:endParaRPr sz="2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1" name="Google Shape;211;p25"/>
          <p:cNvSpPr txBox="1">
            <a:spLocks noGrp="1"/>
          </p:cNvSpPr>
          <p:nvPr>
            <p:ph type="sldNum" idx="4294967295"/>
          </p:nvPr>
        </p:nvSpPr>
        <p:spPr>
          <a:xfrm>
            <a:off x="8719821" y="6301572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fld id="{00000000-1234-1234-1234-123412341234}" type="slidenum">
              <a:rPr lang="en-US" sz="800" b="1"/>
              <a:t>19</a:t>
            </a:fld>
            <a:endParaRPr/>
          </a:p>
        </p:txBody>
      </p:sp>
      <p:sp>
        <p:nvSpPr>
          <p:cNvPr id="212" name="Google Shape;212;p25"/>
          <p:cNvSpPr txBox="1"/>
          <p:nvPr/>
        </p:nvSpPr>
        <p:spPr>
          <a:xfrm>
            <a:off x="500743" y="1447800"/>
            <a:ext cx="8249562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Priority score equation:</a:t>
            </a:r>
          </a:p>
          <a:p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➝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Zhou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et al. (2011), Environmental Science &amp; Technology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	“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Relationships between urban heat island intensity and land cover.”</a:t>
            </a:r>
            <a:br>
              <a:rPr lang="en-US" sz="2000" i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➝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Voelkel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&amp;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Hinner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(2015), Applied Geography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	“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Urban heat and vegetation: identifying priority areas for greening.”</a:t>
            </a:r>
            <a:br>
              <a:rPr lang="en-US" sz="2000" i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➝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Li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et al. (2018), Landscape and Urban Planning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	“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Mapping heat vulnerability and identifying greening targets.”</a:t>
            </a:r>
            <a:br>
              <a:rPr lang="en-US" sz="2000" i="1" dirty="0">
                <a:latin typeface="Times New Roman" pitchFamily="18" charset="0"/>
                <a:cs typeface="Times New Roman" pitchFamily="18" charset="0"/>
              </a:rPr>
            </a:br>
            <a:endParaRPr lang="en-US" sz="2000" b="1" i="0" u="none" strike="noStrike" cap="none" dirty="0" smtClean="0">
              <a:solidFill>
                <a:srgbClr val="000000"/>
              </a:solidFill>
              <a:latin typeface="Times New Roman" pitchFamily="18" charset="0"/>
              <a:ea typeface="Helvetica Neue"/>
              <a:cs typeface="Times New Roman" pitchFamily="18" charset="0"/>
              <a:sym typeface="Helvetica Neue"/>
            </a:endParaRPr>
          </a:p>
          <a:p>
            <a:pPr lvl="0">
              <a:buSzPts val="2000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➤</a:t>
            </a:r>
            <a:endParaRPr lang="en-US" sz="2000" b="1" dirty="0">
              <a:latin typeface="Times New Roman" pitchFamily="18" charset="0"/>
              <a:ea typeface="Helvetica Neue"/>
              <a:cs typeface="Times New Roman" pitchFamily="18" charset="0"/>
              <a:sym typeface="Helvetica Neue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itchFamily="34" charset="0"/>
              <a:buChar char="•"/>
            </a:pPr>
            <a:r>
              <a:rPr lang="en-US" sz="2000" b="1" dirty="0" smtClean="0">
                <a:latin typeface="Times New Roman" pitchFamily="18" charset="0"/>
                <a:ea typeface="Helvetica Neue"/>
                <a:cs typeface="Times New Roman" pitchFamily="18" charset="0"/>
                <a:sym typeface="Helvetica Neue"/>
              </a:rPr>
              <a:t>Source code </a:t>
            </a:r>
            <a:r>
              <a:rPr lang="en-US" sz="2000" b="1" i="0" u="none" strike="noStrike" cap="none" dirty="0" smtClean="0">
                <a:solidFill>
                  <a:srgbClr val="000000"/>
                </a:solidFill>
                <a:latin typeface="Times New Roman" pitchFamily="18" charset="0"/>
                <a:ea typeface="Helvetica Neue"/>
                <a:cs typeface="Times New Roman" pitchFamily="18" charset="0"/>
                <a:sym typeface="Helvetica Neue"/>
              </a:rPr>
              <a:t>:</a:t>
            </a:r>
            <a:endParaRPr lang="en-US" sz="2000" dirty="0">
              <a:latin typeface="Times New Roman" pitchFamily="18" charset="0"/>
              <a:ea typeface="Helvetica Neue"/>
              <a:cs typeface="Times New Roman" pitchFamily="18" charset="0"/>
              <a:sym typeface="Helvetica Neue"/>
            </a:endParaRPr>
          </a:p>
          <a:p>
            <a:pPr lvl="0">
              <a:buSzPts val="2000"/>
            </a:pP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	➝ </a:t>
            </a:r>
            <a:r>
              <a:rPr lang="en-US" sz="2000" dirty="0" smtClean="0">
                <a:latin typeface="Times New Roman" pitchFamily="18" charset="0"/>
                <a:ea typeface="Helvetica Neue"/>
                <a:cs typeface="Times New Roman" pitchFamily="18" charset="0"/>
                <a:sym typeface="Helvetica Neue"/>
              </a:rPr>
              <a:t>https</a:t>
            </a:r>
            <a:r>
              <a:rPr lang="en-US" sz="2000" dirty="0">
                <a:latin typeface="Times New Roman" pitchFamily="18" charset="0"/>
                <a:ea typeface="Helvetica Neue"/>
                <a:cs typeface="Times New Roman" pitchFamily="18" charset="0"/>
                <a:sym typeface="Helvetica Neue"/>
              </a:rPr>
              <a:t>://</a:t>
            </a:r>
            <a:r>
              <a:rPr lang="en-US" sz="2000" dirty="0" smtClean="0">
                <a:latin typeface="Times New Roman" pitchFamily="18" charset="0"/>
                <a:ea typeface="Helvetica Neue"/>
                <a:cs typeface="Times New Roman" pitchFamily="18" charset="0"/>
                <a:sym typeface="Helvetica Neue"/>
              </a:rPr>
              <a:t>github.com/Nusrat2810/Heat_Map_Urban_technology</a:t>
            </a:r>
            <a:endParaRPr sz="2000" b="0" i="0" u="none" strike="noStrike" cap="none" dirty="0">
              <a:solidFill>
                <a:srgbClr val="000000"/>
              </a:solidFill>
              <a:latin typeface="Times New Roman" pitchFamily="18" charset="0"/>
              <a:ea typeface="Helvetica Neue"/>
              <a:cs typeface="Times New Roman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46760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HT PPT Master 2021_4 zu 3">
  <a:themeElements>
    <a:clrScheme name="BHT PPT Master 2021_4 zu 3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0AA"/>
      </a:accent1>
      <a:accent2>
        <a:srgbClr val="555555"/>
      </a:accent2>
      <a:accent3>
        <a:srgbClr val="EA3B07"/>
      </a:accent3>
      <a:accent4>
        <a:srgbClr val="FFC900"/>
      </a:accent4>
      <a:accent5>
        <a:srgbClr val="004282"/>
      </a:accent5>
      <a:accent6>
        <a:srgbClr val="30303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HT PPT Master 2021_4 zu 3">
  <a:themeElements>
    <a:clrScheme name="BHT PPT Master 2021_4 zu 3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0AA"/>
      </a:accent1>
      <a:accent2>
        <a:srgbClr val="555555"/>
      </a:accent2>
      <a:accent3>
        <a:srgbClr val="EA3B07"/>
      </a:accent3>
      <a:accent4>
        <a:srgbClr val="FFC900"/>
      </a:accent4>
      <a:accent5>
        <a:srgbClr val="004282"/>
      </a:accent5>
      <a:accent6>
        <a:srgbClr val="30303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138</Words>
  <Application>Microsoft Office PowerPoint</Application>
  <PresentationFormat>On-screen Show (4:3)</PresentationFormat>
  <Paragraphs>136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Times New Roman</vt:lpstr>
      <vt:lpstr>Helvetica Neue Light</vt:lpstr>
      <vt:lpstr>Cambria Math</vt:lpstr>
      <vt:lpstr>Helvetica Neue</vt:lpstr>
      <vt:lpstr>BHT PPT Master 2021_4 zu 3</vt:lpstr>
      <vt:lpstr>Urban Shade: Data Driven Tree Plantation</vt:lpstr>
      <vt:lpstr>PowerPoint Presentation</vt:lpstr>
      <vt:lpstr>PowerPoint Presentation</vt:lpstr>
      <vt:lpstr>PowerPoint Presentation</vt:lpstr>
      <vt:lpstr>PowerPoint Presentation</vt:lpstr>
      <vt:lpstr>Methods</vt:lpstr>
      <vt:lpstr>Methods</vt:lpstr>
      <vt:lpstr>Results : Dashboard</vt:lpstr>
      <vt:lpstr>Result 01: Heat Map</vt:lpstr>
      <vt:lpstr>Result 02 : Greenery Map</vt:lpstr>
      <vt:lpstr>Result 03 : Tree Plantation Priority Map</vt:lpstr>
      <vt:lpstr>Problem 01: Low Temperature with Low Greenery</vt:lpstr>
      <vt:lpstr>Problem 02: Area Boarder</vt:lpstr>
      <vt:lpstr>Discussion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 Shade: Data Driven Tree Plantation</dc:title>
  <cp:lastModifiedBy>DELL</cp:lastModifiedBy>
  <cp:revision>40</cp:revision>
  <dcterms:modified xsi:type="dcterms:W3CDTF">2025-12-08T08:48:17Z</dcterms:modified>
</cp:coreProperties>
</file>